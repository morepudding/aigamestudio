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DC87A"/>
          </a:solidFill>
          <a:ln w="12700">
            <a:solidFill>
              <a:srgbClr val="2DC87A"/>
            </a:solidFill>
            <a:prstDash val="solid"/>
          </a:ln>
        </p:spPr>
      </p:sp>
      <p:sp>
        <p:nvSpPr>
          <p:cNvPr id="3" name="Shape 1"/>
          <p:cNvSpPr/>
          <p:nvPr/>
        </p:nvSpPr>
        <p:spPr>
          <a:xfrm>
            <a:off x="7498080" y="-822960"/>
            <a:ext cx="2377440" cy="2377440"/>
          </a:xfrm>
          <a:prstGeom prst="ellipse">
            <a:avLst/>
          </a:prstGeom>
          <a:solidFill>
            <a:srgbClr val="1A6E4A">
              <a:alpha val="40000"/>
            </a:srgbClr>
          </a:solidFill>
          <a:ln w="12700">
            <a:solidFill>
              <a:srgbClr val="1A6E4A">
                <a:alpha val="40000"/>
              </a:srgbClr>
            </a:solidFill>
            <a:prstDash val="solid"/>
          </a:ln>
        </p:spPr>
      </p:sp>
      <p:sp>
        <p:nvSpPr>
          <p:cNvPr id="4" name="Shape 2"/>
          <p:cNvSpPr/>
          <p:nvPr/>
        </p:nvSpPr>
        <p:spPr>
          <a:xfrm>
            <a:off x="8046720" y="-274320"/>
            <a:ext cx="1645920" cy="1645920"/>
          </a:xfrm>
          <a:prstGeom prst="ellipse">
            <a:avLst/>
          </a:prstGeom>
          <a:solidFill>
            <a:srgbClr val="2DC87A">
              <a:alpha val="25000"/>
            </a:srgbClr>
          </a:solidFill>
          <a:ln w="12700">
            <a:solidFill>
              <a:srgbClr val="2DC87A">
                <a:alpha val="25000"/>
              </a:srgbClr>
            </a:solidFill>
            <a:prstDash val="solid"/>
          </a:ln>
        </p:spPr>
      </p:sp>
      <p:sp>
        <p:nvSpPr>
          <p:cNvPr id="5" name="Shape 3"/>
          <p:cNvSpPr/>
          <p:nvPr/>
        </p:nvSpPr>
        <p:spPr>
          <a:xfrm>
            <a:off x="0" y="4297680"/>
            <a:ext cx="9144000" cy="845820"/>
          </a:xfrm>
          <a:prstGeom prst="rect">
            <a:avLst/>
          </a:prstGeom>
          <a:solidFill>
            <a:srgbClr val="1A6E4A"/>
          </a:solidFill>
          <a:ln w="12700">
            <a:solidFill>
              <a:srgbClr val="1A6E4A"/>
            </a:solidFill>
            <a:prstDash val="solid"/>
          </a:ln>
        </p:spPr>
      </p:sp>
      <p:sp>
        <p:nvSpPr>
          <p:cNvPr id="6" name="Shape 4"/>
          <p:cNvSpPr/>
          <p:nvPr/>
        </p:nvSpPr>
        <p:spPr>
          <a:xfrm>
            <a:off x="502920" y="502920"/>
            <a:ext cx="731520" cy="731520"/>
          </a:xfrm>
          <a:prstGeom prst="ellipse">
            <a:avLst/>
          </a:prstGeom>
          <a:solidFill>
            <a:srgbClr val="2DC87A"/>
          </a:solidFill>
          <a:ln w="12700">
            <a:solidFill>
              <a:srgbClr val="2DC87A"/>
            </a:solidFill>
            <a:prstDash val="solid"/>
          </a:ln>
        </p:spPr>
      </p:sp>
      <p:sp>
        <p:nvSpPr>
          <p:cNvPr id="7" name="Text 5"/>
          <p:cNvSpPr/>
          <p:nvPr/>
        </p:nvSpPr>
        <p:spPr>
          <a:xfrm>
            <a:off x="502920" y="457200"/>
            <a:ext cx="731520" cy="822960"/>
          </a:xfrm>
          <a:prstGeom prst="rect">
            <a:avLst/>
          </a:prstGeom>
          <a:noFill/>
          <a:ln/>
        </p:spPr>
        <p:txBody>
          <a:bodyPr wrap="square" lIns="0" tIns="0" rIns="0" bIns="0" rtlCol="0" anchor="ctr"/>
          <a:lstStyle/>
          <a:p>
            <a:pPr algn="ctr" indent="0" marL="0">
              <a:buNone/>
            </a:pPr>
            <a:r>
              <a:rPr lang="en-US" sz="2200" dirty="0">
                <a:solidFill>
                  <a:srgbClr val="0B3D2C"/>
                </a:solidFill>
              </a:rPr>
              <a:t>♻</a:t>
            </a:r>
            <a:endParaRPr lang="en-US" sz="2200" dirty="0"/>
          </a:p>
        </p:txBody>
      </p:sp>
      <p:sp>
        <p:nvSpPr>
          <p:cNvPr id="8" name="Text 6"/>
          <p:cNvSpPr/>
          <p:nvPr/>
        </p:nvSpPr>
        <p:spPr>
          <a:xfrm>
            <a:off x="411480" y="1417320"/>
            <a:ext cx="7772400" cy="320040"/>
          </a:xfrm>
          <a:prstGeom prst="rect">
            <a:avLst/>
          </a:prstGeom>
          <a:noFill/>
          <a:ln/>
        </p:spPr>
        <p:txBody>
          <a:bodyPr wrap="square" lIns="0" tIns="0" rIns="0" bIns="0" rtlCol="0" anchor="ctr"/>
          <a:lstStyle/>
          <a:p>
            <a:pPr algn="l" indent="0" marL="0">
              <a:buNone/>
            </a:pPr>
            <a:r>
              <a:rPr lang="en-US" sz="1000" b="1" spc="500" kern="0" dirty="0">
                <a:solidFill>
                  <a:srgbClr val="B6F0D3"/>
                </a:solidFill>
              </a:rPr>
              <a:t>PRÉSENTATION</a:t>
            </a:r>
            <a:endParaRPr lang="en-US" sz="1000" dirty="0"/>
          </a:p>
        </p:txBody>
      </p:sp>
      <p:sp>
        <p:nvSpPr>
          <p:cNvPr id="9" name="Text 7"/>
          <p:cNvSpPr/>
          <p:nvPr/>
        </p:nvSpPr>
        <p:spPr>
          <a:xfrm>
            <a:off x="411480" y="1691640"/>
            <a:ext cx="7772400" cy="777240"/>
          </a:xfrm>
          <a:prstGeom prst="rect">
            <a:avLst/>
          </a:prstGeom>
          <a:noFill/>
          <a:ln/>
        </p:spPr>
        <p:txBody>
          <a:bodyPr wrap="square" lIns="0" tIns="0" rIns="0" bIns="0" rtlCol="0" anchor="ctr"/>
          <a:lstStyle/>
          <a:p>
            <a:pPr algn="l" indent="0" marL="0">
              <a:buNone/>
            </a:pPr>
            <a:r>
              <a:rPr lang="en-US" sz="4800" b="1" dirty="0">
                <a:solidFill>
                  <a:srgbClr val="FFFFFF"/>
                </a:solidFill>
                <a:latin typeface="Georgia" pitchFamily="34" charset="0"/>
                <a:ea typeface="Georgia" pitchFamily="34" charset="-122"/>
                <a:cs typeface="Georgia" pitchFamily="34" charset="-120"/>
              </a:rPr>
              <a:t>Actions RSE</a:t>
            </a:r>
            <a:endParaRPr lang="en-US" sz="4800" dirty="0"/>
          </a:p>
        </p:txBody>
      </p:sp>
      <p:sp>
        <p:nvSpPr>
          <p:cNvPr id="10" name="Text 8"/>
          <p:cNvSpPr/>
          <p:nvPr/>
        </p:nvSpPr>
        <p:spPr>
          <a:xfrm>
            <a:off x="411480" y="2377440"/>
            <a:ext cx="7772400" cy="777240"/>
          </a:xfrm>
          <a:prstGeom prst="rect">
            <a:avLst/>
          </a:prstGeom>
          <a:noFill/>
          <a:ln/>
        </p:spPr>
        <p:txBody>
          <a:bodyPr wrap="square" lIns="0" tIns="0" rIns="0" bIns="0" rtlCol="0" anchor="ctr"/>
          <a:lstStyle/>
          <a:p>
            <a:pPr algn="l" indent="0" marL="0">
              <a:buNone/>
            </a:pPr>
            <a:r>
              <a:rPr lang="en-US" sz="4800" b="1" dirty="0">
                <a:solidFill>
                  <a:srgbClr val="2DC87A"/>
                </a:solidFill>
                <a:latin typeface="Georgia" pitchFamily="34" charset="0"/>
                <a:ea typeface="Georgia" pitchFamily="34" charset="-122"/>
                <a:cs typeface="Georgia" pitchFamily="34" charset="-120"/>
              </a:rPr>
              <a:t>2024 – 2026</a:t>
            </a:r>
            <a:endParaRPr lang="en-US" sz="4800" dirty="0"/>
          </a:p>
        </p:txBody>
      </p:sp>
      <p:sp>
        <p:nvSpPr>
          <p:cNvPr id="11" name="Shape 9"/>
          <p:cNvSpPr/>
          <p:nvPr/>
        </p:nvSpPr>
        <p:spPr>
          <a:xfrm>
            <a:off x="411480" y="3218688"/>
            <a:ext cx="2286000" cy="36576"/>
          </a:xfrm>
          <a:prstGeom prst="rect">
            <a:avLst/>
          </a:prstGeom>
          <a:solidFill>
            <a:srgbClr val="B6F0D3"/>
          </a:solidFill>
          <a:ln w="12700">
            <a:solidFill>
              <a:srgbClr val="B6F0D3"/>
            </a:solidFill>
            <a:prstDash val="solid"/>
          </a:ln>
        </p:spPr>
      </p:sp>
      <p:sp>
        <p:nvSpPr>
          <p:cNvPr id="12" name="Text 10"/>
          <p:cNvSpPr/>
          <p:nvPr/>
        </p:nvSpPr>
        <p:spPr>
          <a:xfrm>
            <a:off x="411480" y="3337560"/>
            <a:ext cx="7772400" cy="365760"/>
          </a:xfrm>
          <a:prstGeom prst="rect">
            <a:avLst/>
          </a:prstGeom>
          <a:noFill/>
          <a:ln/>
        </p:spPr>
        <p:txBody>
          <a:bodyPr wrap="square" lIns="0" tIns="0" rIns="0" bIns="0" rtlCol="0" anchor="ctr"/>
          <a:lstStyle/>
          <a:p>
            <a:pPr algn="l" indent="0" marL="0">
              <a:buNone/>
            </a:pPr>
            <a:r>
              <a:rPr lang="en-US" sz="1600" dirty="0">
                <a:solidFill>
                  <a:srgbClr val="B6F0D3"/>
                </a:solidFill>
              </a:rPr>
              <a:t>Céréalog  ·  Groupe Bénéteau</a:t>
            </a:r>
            <a:endParaRPr lang="en-US" sz="1600" dirty="0"/>
          </a:p>
        </p:txBody>
      </p:sp>
      <p:sp>
        <p:nvSpPr>
          <p:cNvPr id="13" name="Text 11"/>
          <p:cNvSpPr/>
          <p:nvPr/>
        </p:nvSpPr>
        <p:spPr>
          <a:xfrm>
            <a:off x="411480" y="3657600"/>
            <a:ext cx="7772400" cy="320040"/>
          </a:xfrm>
          <a:prstGeom prst="rect">
            <a:avLst/>
          </a:prstGeom>
          <a:noFill/>
          <a:ln/>
        </p:spPr>
        <p:txBody>
          <a:bodyPr wrap="square" lIns="0" tIns="0" rIns="0" bIns="0" rtlCol="0" anchor="ctr"/>
          <a:lstStyle/>
          <a:p>
            <a:pPr algn="l" indent="0" marL="0">
              <a:buNone/>
            </a:pPr>
            <a:r>
              <a:rPr lang="en-US" sz="1100" i="1" dirty="0">
                <a:solidFill>
                  <a:srgbClr val="B6F0D3"/>
                </a:solidFill>
              </a:rPr>
              <a:t>Réalisations &amp; comparaison avec la politique d'entreprise</a:t>
            </a:r>
            <a:endParaRPr lang="en-US" sz="1100" dirty="0"/>
          </a:p>
        </p:txBody>
      </p:sp>
      <p:sp>
        <p:nvSpPr>
          <p:cNvPr id="14" name="Text 12"/>
          <p:cNvSpPr/>
          <p:nvPr/>
        </p:nvSpPr>
        <p:spPr>
          <a:xfrm>
            <a:off x="411480" y="4361688"/>
            <a:ext cx="8229600" cy="347472"/>
          </a:xfrm>
          <a:prstGeom prst="rect">
            <a:avLst/>
          </a:prstGeom>
          <a:noFill/>
          <a:ln/>
        </p:spPr>
        <p:txBody>
          <a:bodyPr wrap="square" lIns="0" tIns="0" rIns="0" bIns="0" rtlCol="0" anchor="ctr"/>
          <a:lstStyle/>
          <a:p>
            <a:pPr algn="l" indent="0" marL="0">
              <a:buNone/>
            </a:pPr>
            <a:r>
              <a:rPr lang="en-US" sz="900" dirty="0">
                <a:solidFill>
                  <a:srgbClr val="FFFFFF"/>
                </a:solidFill>
              </a:rPr>
              <a:t>Année scolaire 2025–2026  ·  BTS / Licence Management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3D2C"/>
          </a:solidFill>
          <a:ln w="12700">
            <a:solidFill>
              <a:srgbClr val="0B3D2C"/>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Sommaire</a:t>
            </a:r>
            <a:endParaRPr lang="en-US" sz="2800" dirty="0"/>
          </a:p>
        </p:txBody>
      </p:sp>
      <p:sp>
        <p:nvSpPr>
          <p:cNvPr id="4" name="Shape 2"/>
          <p:cNvSpPr/>
          <p:nvPr/>
        </p:nvSpPr>
        <p:spPr>
          <a:xfrm>
            <a:off x="0" y="1005840"/>
            <a:ext cx="9144000" cy="54864"/>
          </a:xfrm>
          <a:prstGeom prst="rect">
            <a:avLst/>
          </a:prstGeom>
          <a:solidFill>
            <a:srgbClr val="2DC87A"/>
          </a:solidFill>
          <a:ln w="12700">
            <a:solidFill>
              <a:srgbClr val="2DC87A"/>
            </a:solidFill>
            <a:prstDash val="solid"/>
          </a:ln>
        </p:spPr>
      </p:sp>
      <p:sp>
        <p:nvSpPr>
          <p:cNvPr id="5" name="Shape 3"/>
          <p:cNvSpPr/>
          <p:nvPr/>
        </p:nvSpPr>
        <p:spPr>
          <a:xfrm>
            <a:off x="365760" y="1325880"/>
            <a:ext cx="3840480" cy="15544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325880"/>
            <a:ext cx="109728" cy="1554480"/>
          </a:xfrm>
          <a:prstGeom prst="rect">
            <a:avLst/>
          </a:prstGeom>
          <a:solidFill>
            <a:srgbClr val="1E5FA8"/>
          </a:solidFill>
          <a:ln w="12700">
            <a:solidFill>
              <a:srgbClr val="1E5FA8"/>
            </a:solidFill>
            <a:prstDash val="solid"/>
          </a:ln>
        </p:spPr>
      </p:sp>
      <p:sp>
        <p:nvSpPr>
          <p:cNvPr id="7" name="Text 5"/>
          <p:cNvSpPr/>
          <p:nvPr/>
        </p:nvSpPr>
        <p:spPr>
          <a:xfrm>
            <a:off x="566928" y="1463040"/>
            <a:ext cx="640080" cy="457200"/>
          </a:xfrm>
          <a:prstGeom prst="rect">
            <a:avLst/>
          </a:prstGeom>
          <a:noFill/>
          <a:ln/>
        </p:spPr>
        <p:txBody>
          <a:bodyPr wrap="square" lIns="0" tIns="0" rIns="0" bIns="0" rtlCol="0" anchor="ctr"/>
          <a:lstStyle/>
          <a:p>
            <a:pPr indent="0" marL="0">
              <a:buNone/>
            </a:pPr>
            <a:r>
              <a:rPr lang="en-US" sz="2800" b="1" dirty="0">
                <a:solidFill>
                  <a:srgbClr val="1E5FA8"/>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566928" y="1892808"/>
            <a:ext cx="3520440" cy="384048"/>
          </a:xfrm>
          <a:prstGeom prst="rect">
            <a:avLst/>
          </a:prstGeom>
          <a:noFill/>
          <a:ln/>
        </p:spPr>
        <p:txBody>
          <a:bodyPr wrap="square" lIns="0" tIns="0" rIns="0" bIns="0" rtlCol="0" anchor="ctr"/>
          <a:lstStyle/>
          <a:p>
            <a:pPr indent="0" marL="0">
              <a:buNone/>
            </a:pPr>
            <a:r>
              <a:rPr lang="en-US" sz="1400" b="1" dirty="0">
                <a:solidFill>
                  <a:srgbClr val="1C2B22"/>
                </a:solidFill>
                <a:latin typeface="Georgia" pitchFamily="34" charset="0"/>
                <a:ea typeface="Georgia" pitchFamily="34" charset="-122"/>
                <a:cs typeface="Georgia" pitchFamily="34" charset="-120"/>
              </a:rPr>
              <a:t>Céréalog</a:t>
            </a:r>
            <a:endParaRPr lang="en-US" sz="1400" dirty="0"/>
          </a:p>
        </p:txBody>
      </p:sp>
      <p:sp>
        <p:nvSpPr>
          <p:cNvPr id="9" name="Text 7"/>
          <p:cNvSpPr/>
          <p:nvPr/>
        </p:nvSpPr>
        <p:spPr>
          <a:xfrm>
            <a:off x="566928" y="2258568"/>
            <a:ext cx="3520440" cy="502920"/>
          </a:xfrm>
          <a:prstGeom prst="rect">
            <a:avLst/>
          </a:prstGeom>
          <a:noFill/>
          <a:ln/>
        </p:spPr>
        <p:txBody>
          <a:bodyPr wrap="square" lIns="0" tIns="0" rIns="0" bIns="0" rtlCol="0" anchor="ctr"/>
          <a:lstStyle/>
          <a:p>
            <a:pPr indent="0" marL="0">
              <a:buNone/>
            </a:pPr>
            <a:r>
              <a:rPr lang="en-US" sz="950" dirty="0">
                <a:solidFill>
                  <a:srgbClr val="4A5E54"/>
                </a:solidFill>
              </a:rPr>
              <a:t>Présentation · Actions RSE 2024-2026 · Politique vs Réalisations</a:t>
            </a:r>
            <a:endParaRPr lang="en-US" sz="950" dirty="0"/>
          </a:p>
        </p:txBody>
      </p:sp>
      <p:sp>
        <p:nvSpPr>
          <p:cNvPr id="10" name="Shape 8"/>
          <p:cNvSpPr/>
          <p:nvPr/>
        </p:nvSpPr>
        <p:spPr>
          <a:xfrm>
            <a:off x="4663440" y="1325880"/>
            <a:ext cx="3840480" cy="15544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663440" y="1325880"/>
            <a:ext cx="109728" cy="1554480"/>
          </a:xfrm>
          <a:prstGeom prst="rect">
            <a:avLst/>
          </a:prstGeom>
          <a:solidFill>
            <a:srgbClr val="0B4F8A"/>
          </a:solidFill>
          <a:ln w="12700">
            <a:solidFill>
              <a:srgbClr val="0B4F8A"/>
            </a:solidFill>
            <a:prstDash val="solid"/>
          </a:ln>
        </p:spPr>
      </p:sp>
      <p:sp>
        <p:nvSpPr>
          <p:cNvPr id="12" name="Text 10"/>
          <p:cNvSpPr/>
          <p:nvPr/>
        </p:nvSpPr>
        <p:spPr>
          <a:xfrm>
            <a:off x="4864608" y="1463040"/>
            <a:ext cx="640080" cy="457200"/>
          </a:xfrm>
          <a:prstGeom prst="rect">
            <a:avLst/>
          </a:prstGeom>
          <a:noFill/>
          <a:ln/>
        </p:spPr>
        <p:txBody>
          <a:bodyPr wrap="square" lIns="0" tIns="0" rIns="0" bIns="0" rtlCol="0" anchor="ctr"/>
          <a:lstStyle/>
          <a:p>
            <a:pPr indent="0" marL="0">
              <a:buNone/>
            </a:pPr>
            <a:r>
              <a:rPr lang="en-US" sz="2800" b="1" dirty="0">
                <a:solidFill>
                  <a:srgbClr val="0B4F8A"/>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4864608" y="1892808"/>
            <a:ext cx="3520440" cy="384048"/>
          </a:xfrm>
          <a:prstGeom prst="rect">
            <a:avLst/>
          </a:prstGeom>
          <a:noFill/>
          <a:ln/>
        </p:spPr>
        <p:txBody>
          <a:bodyPr wrap="square" lIns="0" tIns="0" rIns="0" bIns="0" rtlCol="0" anchor="ctr"/>
          <a:lstStyle/>
          <a:p>
            <a:pPr indent="0" marL="0">
              <a:buNone/>
            </a:pPr>
            <a:r>
              <a:rPr lang="en-US" sz="1400" b="1" dirty="0">
                <a:solidFill>
                  <a:srgbClr val="1C2B22"/>
                </a:solidFill>
                <a:latin typeface="Georgia" pitchFamily="34" charset="0"/>
                <a:ea typeface="Georgia" pitchFamily="34" charset="-122"/>
                <a:cs typeface="Georgia" pitchFamily="34" charset="-120"/>
              </a:rPr>
              <a:t>Groupe Bénéteau</a:t>
            </a:r>
            <a:endParaRPr lang="en-US" sz="1400" dirty="0"/>
          </a:p>
        </p:txBody>
      </p:sp>
      <p:sp>
        <p:nvSpPr>
          <p:cNvPr id="14" name="Text 12"/>
          <p:cNvSpPr/>
          <p:nvPr/>
        </p:nvSpPr>
        <p:spPr>
          <a:xfrm>
            <a:off x="4864608" y="2258568"/>
            <a:ext cx="3520440" cy="502920"/>
          </a:xfrm>
          <a:prstGeom prst="rect">
            <a:avLst/>
          </a:prstGeom>
          <a:noFill/>
          <a:ln/>
        </p:spPr>
        <p:txBody>
          <a:bodyPr wrap="square" lIns="0" tIns="0" rIns="0" bIns="0" rtlCol="0" anchor="ctr"/>
          <a:lstStyle/>
          <a:p>
            <a:pPr indent="0" marL="0">
              <a:buNone/>
            </a:pPr>
            <a:r>
              <a:rPr lang="en-US" sz="950" dirty="0">
                <a:solidFill>
                  <a:srgbClr val="4A5E54"/>
                </a:solidFill>
              </a:rPr>
              <a:t>Présentation · Actions RSE 2024-2025 · Stratégie B-SUSTAINABLE</a:t>
            </a:r>
            <a:endParaRPr lang="en-US" sz="950" dirty="0"/>
          </a:p>
        </p:txBody>
      </p:sp>
      <p:sp>
        <p:nvSpPr>
          <p:cNvPr id="15" name="Shape 13"/>
          <p:cNvSpPr/>
          <p:nvPr/>
        </p:nvSpPr>
        <p:spPr>
          <a:xfrm>
            <a:off x="365760" y="3108960"/>
            <a:ext cx="3840480" cy="15544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65760" y="3108960"/>
            <a:ext cx="109728" cy="1554480"/>
          </a:xfrm>
          <a:prstGeom prst="rect">
            <a:avLst/>
          </a:prstGeom>
          <a:solidFill>
            <a:srgbClr val="1A6E4A"/>
          </a:solidFill>
          <a:ln w="12700">
            <a:solidFill>
              <a:srgbClr val="1A6E4A"/>
            </a:solidFill>
            <a:prstDash val="solid"/>
          </a:ln>
        </p:spPr>
      </p:sp>
      <p:sp>
        <p:nvSpPr>
          <p:cNvPr id="17" name="Text 15"/>
          <p:cNvSpPr/>
          <p:nvPr/>
        </p:nvSpPr>
        <p:spPr>
          <a:xfrm>
            <a:off x="566928" y="3246120"/>
            <a:ext cx="640080" cy="457200"/>
          </a:xfrm>
          <a:prstGeom prst="rect">
            <a:avLst/>
          </a:prstGeom>
          <a:noFill/>
          <a:ln/>
        </p:spPr>
        <p:txBody>
          <a:bodyPr wrap="square" lIns="0" tIns="0" rIns="0" bIns="0" rtlCol="0" anchor="ctr"/>
          <a:lstStyle/>
          <a:p>
            <a:pPr indent="0" marL="0">
              <a:buNone/>
            </a:pPr>
            <a:r>
              <a:rPr lang="en-US" sz="2800" b="1" dirty="0">
                <a:solidFill>
                  <a:srgbClr val="1A6E4A"/>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566928" y="3675888"/>
            <a:ext cx="3520440" cy="384048"/>
          </a:xfrm>
          <a:prstGeom prst="rect">
            <a:avLst/>
          </a:prstGeom>
          <a:noFill/>
          <a:ln/>
        </p:spPr>
        <p:txBody>
          <a:bodyPr wrap="square" lIns="0" tIns="0" rIns="0" bIns="0" rtlCol="0" anchor="ctr"/>
          <a:lstStyle/>
          <a:p>
            <a:pPr indent="0" marL="0">
              <a:buNone/>
            </a:pPr>
            <a:r>
              <a:rPr lang="en-US" sz="1400" b="1" dirty="0">
                <a:solidFill>
                  <a:srgbClr val="1C2B22"/>
                </a:solidFill>
                <a:latin typeface="Georgia" pitchFamily="34" charset="0"/>
                <a:ea typeface="Georgia" pitchFamily="34" charset="-122"/>
                <a:cs typeface="Georgia" pitchFamily="34" charset="-120"/>
              </a:rPr>
              <a:t>Comparaison</a:t>
            </a:r>
            <a:endParaRPr lang="en-US" sz="1400" dirty="0"/>
          </a:p>
        </p:txBody>
      </p:sp>
      <p:sp>
        <p:nvSpPr>
          <p:cNvPr id="19" name="Text 17"/>
          <p:cNvSpPr/>
          <p:nvPr/>
        </p:nvSpPr>
        <p:spPr>
          <a:xfrm>
            <a:off x="566928" y="4041648"/>
            <a:ext cx="3520440" cy="502920"/>
          </a:xfrm>
          <a:prstGeom prst="rect">
            <a:avLst/>
          </a:prstGeom>
          <a:noFill/>
          <a:ln/>
        </p:spPr>
        <p:txBody>
          <a:bodyPr wrap="square" lIns="0" tIns="0" rIns="0" bIns="0" rtlCol="0" anchor="ctr"/>
          <a:lstStyle/>
          <a:p>
            <a:pPr indent="0" marL="0">
              <a:buNone/>
            </a:pPr>
            <a:r>
              <a:rPr lang="en-US" sz="950" dirty="0">
                <a:solidFill>
                  <a:srgbClr val="4A5E54"/>
                </a:solidFill>
              </a:rPr>
              <a:t>Analyse croisée des démarches RSE des deux entreprises</a:t>
            </a:r>
            <a:endParaRPr lang="en-US" sz="950" dirty="0"/>
          </a:p>
        </p:txBody>
      </p:sp>
      <p:sp>
        <p:nvSpPr>
          <p:cNvPr id="20" name="Shape 18"/>
          <p:cNvSpPr/>
          <p:nvPr/>
        </p:nvSpPr>
        <p:spPr>
          <a:xfrm>
            <a:off x="4663440" y="3108960"/>
            <a:ext cx="3840480" cy="15544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663440" y="3108960"/>
            <a:ext cx="109728" cy="1554480"/>
          </a:xfrm>
          <a:prstGeom prst="rect">
            <a:avLst/>
          </a:prstGeom>
          <a:solidFill>
            <a:srgbClr val="0B3D2C"/>
          </a:solidFill>
          <a:ln w="12700">
            <a:solidFill>
              <a:srgbClr val="0B3D2C"/>
            </a:solidFill>
            <a:prstDash val="solid"/>
          </a:ln>
        </p:spPr>
      </p:sp>
      <p:sp>
        <p:nvSpPr>
          <p:cNvPr id="22" name="Text 20"/>
          <p:cNvSpPr/>
          <p:nvPr/>
        </p:nvSpPr>
        <p:spPr>
          <a:xfrm>
            <a:off x="4864608" y="3246120"/>
            <a:ext cx="640080" cy="457200"/>
          </a:xfrm>
          <a:prstGeom prst="rect">
            <a:avLst/>
          </a:prstGeom>
          <a:noFill/>
          <a:ln/>
        </p:spPr>
        <p:txBody>
          <a:bodyPr wrap="square" lIns="0" tIns="0" rIns="0" bIns="0" rtlCol="0" anchor="ctr"/>
          <a:lstStyle/>
          <a:p>
            <a:pPr indent="0" marL="0">
              <a:buNone/>
            </a:pPr>
            <a:r>
              <a:rPr lang="en-US" sz="2800" b="1" dirty="0">
                <a:solidFill>
                  <a:srgbClr val="0B3D2C"/>
                </a:solidFill>
                <a:latin typeface="Georgia" pitchFamily="34" charset="0"/>
                <a:ea typeface="Georgia" pitchFamily="34" charset="-122"/>
                <a:cs typeface="Georgia" pitchFamily="34" charset="-120"/>
              </a:rPr>
              <a:t>04</a:t>
            </a:r>
            <a:endParaRPr lang="en-US" sz="2800" dirty="0"/>
          </a:p>
        </p:txBody>
      </p:sp>
      <p:sp>
        <p:nvSpPr>
          <p:cNvPr id="23" name="Text 21"/>
          <p:cNvSpPr/>
          <p:nvPr/>
        </p:nvSpPr>
        <p:spPr>
          <a:xfrm>
            <a:off x="4864608" y="3675888"/>
            <a:ext cx="3520440" cy="384048"/>
          </a:xfrm>
          <a:prstGeom prst="rect">
            <a:avLst/>
          </a:prstGeom>
          <a:noFill/>
          <a:ln/>
        </p:spPr>
        <p:txBody>
          <a:bodyPr wrap="square" lIns="0" tIns="0" rIns="0" bIns="0" rtlCol="0" anchor="ctr"/>
          <a:lstStyle/>
          <a:p>
            <a:pPr indent="0" marL="0">
              <a:buNone/>
            </a:pPr>
            <a:r>
              <a:rPr lang="en-US" sz="1400" b="1" dirty="0">
                <a:solidFill>
                  <a:srgbClr val="1C2B22"/>
                </a:solidFill>
                <a:latin typeface="Georgia" pitchFamily="34" charset="0"/>
                <a:ea typeface="Georgia" pitchFamily="34" charset="-122"/>
                <a:cs typeface="Georgia" pitchFamily="34" charset="-120"/>
              </a:rPr>
              <a:t>Conclusion</a:t>
            </a:r>
            <a:endParaRPr lang="en-US" sz="1400" dirty="0"/>
          </a:p>
        </p:txBody>
      </p:sp>
      <p:sp>
        <p:nvSpPr>
          <p:cNvPr id="24" name="Text 22"/>
          <p:cNvSpPr/>
          <p:nvPr/>
        </p:nvSpPr>
        <p:spPr>
          <a:xfrm>
            <a:off x="4864608" y="4041648"/>
            <a:ext cx="3520440" cy="502920"/>
          </a:xfrm>
          <a:prstGeom prst="rect">
            <a:avLst/>
          </a:prstGeom>
          <a:noFill/>
          <a:ln/>
        </p:spPr>
        <p:txBody>
          <a:bodyPr wrap="square" lIns="0" tIns="0" rIns="0" bIns="0" rtlCol="0" anchor="ctr"/>
          <a:lstStyle/>
          <a:p>
            <a:pPr indent="0" marL="0">
              <a:buNone/>
            </a:pPr>
            <a:r>
              <a:rPr lang="en-US" sz="950" dirty="0">
                <a:solidFill>
                  <a:srgbClr val="4A5E54"/>
                </a:solidFill>
              </a:rPr>
              <a:t>Bilan &amp; perspectives RSE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5FA8"/>
          </a:solidFill>
          <a:ln w="12700">
            <a:solidFill>
              <a:srgbClr val="1E5FA8"/>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54864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01 — Céréalog</a:t>
            </a:r>
            <a:endParaRPr lang="en-US" sz="2600" dirty="0"/>
          </a:p>
        </p:txBody>
      </p:sp>
      <p:sp>
        <p:nvSpPr>
          <p:cNvPr id="5" name="Text 3"/>
          <p:cNvSpPr/>
          <p:nvPr/>
        </p:nvSpPr>
        <p:spPr>
          <a:xfrm>
            <a:off x="5486400" y="0"/>
            <a:ext cx="3200400" cy="960120"/>
          </a:xfrm>
          <a:prstGeom prst="rect">
            <a:avLst/>
          </a:prstGeom>
          <a:noFill/>
          <a:ln/>
        </p:spPr>
        <p:txBody>
          <a:bodyPr wrap="square" lIns="0" tIns="0" rIns="0" bIns="0" rtlCol="0" anchor="ctr"/>
          <a:lstStyle/>
          <a:p>
            <a:pPr algn="r" indent="0" marL="0">
              <a:buNone/>
            </a:pPr>
            <a:r>
              <a:rPr lang="en-US" sz="900" b="1" spc="300" kern="0" dirty="0">
                <a:solidFill>
                  <a:srgbClr val="B8CFEC"/>
                </a:solidFill>
              </a:rPr>
              <a:t>PRÉSENTATION DE L'ENTREPRISE</a:t>
            </a:r>
            <a:endParaRPr lang="en-US" sz="900" dirty="0"/>
          </a:p>
        </p:txBody>
      </p:sp>
      <p:sp>
        <p:nvSpPr>
          <p:cNvPr id="6" name="Shape 4"/>
          <p:cNvSpPr/>
          <p:nvPr/>
        </p:nvSpPr>
        <p:spPr>
          <a:xfrm>
            <a:off x="320040" y="1234440"/>
            <a:ext cx="5303520" cy="347472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1234440"/>
            <a:ext cx="109728" cy="3474720"/>
          </a:xfrm>
          <a:prstGeom prst="rect">
            <a:avLst/>
          </a:prstGeom>
          <a:solidFill>
            <a:srgbClr val="1E5FA8"/>
          </a:solidFill>
          <a:ln w="12700">
            <a:solidFill>
              <a:srgbClr val="1E5FA8"/>
            </a:solidFill>
            <a:prstDash val="solid"/>
          </a:ln>
        </p:spPr>
      </p:sp>
      <p:sp>
        <p:nvSpPr>
          <p:cNvPr id="8" name="Text 6"/>
          <p:cNvSpPr/>
          <p:nvPr/>
        </p:nvSpPr>
        <p:spPr>
          <a:xfrm>
            <a:off x="548640" y="1417320"/>
            <a:ext cx="4937760" cy="384048"/>
          </a:xfrm>
          <a:prstGeom prst="rect">
            <a:avLst/>
          </a:prstGeom>
          <a:noFill/>
          <a:ln/>
        </p:spPr>
        <p:txBody>
          <a:bodyPr wrap="square" lIns="0" tIns="0" rIns="0" bIns="0" rtlCol="0" anchor="ctr"/>
          <a:lstStyle/>
          <a:p>
            <a:pPr indent="0" marL="0">
              <a:buNone/>
            </a:pPr>
            <a:r>
              <a:rPr lang="en-US" sz="1400" b="1" dirty="0">
                <a:solidFill>
                  <a:srgbClr val="1E5FA8"/>
                </a:solidFill>
              </a:rPr>
              <a:t>Qui sommes-nous ?</a:t>
            </a:r>
            <a:endParaRPr lang="en-US" sz="1400" dirty="0"/>
          </a:p>
        </p:txBody>
      </p:sp>
      <p:sp>
        <p:nvSpPr>
          <p:cNvPr id="9" name="Text 7"/>
          <p:cNvSpPr/>
          <p:nvPr/>
        </p:nvSpPr>
        <p:spPr>
          <a:xfrm>
            <a:off x="548640" y="1874520"/>
            <a:ext cx="4846320" cy="2560320"/>
          </a:xfrm>
          <a:prstGeom prst="rect">
            <a:avLst/>
          </a:prstGeom>
          <a:noFill/>
          <a:ln/>
        </p:spPr>
        <p:txBody>
          <a:bodyPr wrap="square" lIns="0" tIns="0" rIns="0" bIns="0" rtlCol="0" anchor="t"/>
          <a:lstStyle/>
          <a:p>
            <a:pPr indent="0" marL="0">
              <a:buNone/>
            </a:pPr>
            <a:r>
              <a:rPr lang="en-US" sz="1100" dirty="0">
                <a:solidFill>
                  <a:srgbClr val="1C2B22"/>
                </a:solidFill>
              </a:rPr>
              <a:t>Fondée en 1993, Céréalog est le 1ᵉʳ intégrateur français ERP Cloud SAP dédié aux PME.</a:t>
            </a:r>
            <a:endParaRPr lang="en-US" sz="1100" dirty="0"/>
          </a:p>
          <a:p>
            <a:pPr indent="0" marL="0">
              <a:buNone/>
            </a:pPr>
            <a:r>
              <a:rPr lang="en-US" sz="500" dirty="0">
                <a:solidFill>
                  <a:srgbClr val="1C2B22"/>
                </a:solidFill>
              </a:rPr>
              <a:t> </a:t>
            </a:r>
            <a:endParaRPr lang="en-US" sz="1100" dirty="0"/>
          </a:p>
          <a:p>
            <a:pPr indent="0" marL="0">
              <a:buNone/>
            </a:pPr>
            <a:r>
              <a:rPr lang="en-US" sz="1100" dirty="0">
                <a:solidFill>
                  <a:srgbClr val="1C2B22"/>
                </a:solidFill>
              </a:rPr>
              <a:t>Spécialisée dans la transformation digitale, l'entreprise accompagne ses clients sur 4 domaines :</a:t>
            </a:r>
            <a:endParaRPr lang="en-US" sz="1100" dirty="0"/>
          </a:p>
          <a:p>
            <a:pPr indent="0" marL="0">
              <a:buNone/>
            </a:pPr>
            <a:r>
              <a:rPr lang="en-US" sz="1100" dirty="0">
                <a:solidFill>
                  <a:srgbClr val="1C2B22"/>
                </a:solidFill>
              </a:rPr>
              <a:t>Systèmes &amp; Réseaux, Intégration ERP (SAP), Data &amp; Pilotage, Services &amp; Support.</a:t>
            </a:r>
            <a:endParaRPr lang="en-US" sz="1100" dirty="0"/>
          </a:p>
          <a:p>
            <a:pPr indent="0" marL="0">
              <a:buNone/>
            </a:pPr>
            <a:r>
              <a:rPr lang="en-US" sz="500" dirty="0">
                <a:solidFill>
                  <a:srgbClr val="1C2B22"/>
                </a:solidFill>
              </a:rPr>
              <a:t> </a:t>
            </a:r>
            <a:endParaRPr lang="en-US" sz="1100" dirty="0"/>
          </a:p>
          <a:p>
            <a:pPr indent="0" marL="0">
              <a:buNone/>
            </a:pPr>
            <a:r>
              <a:rPr lang="en-US" sz="1100" dirty="0">
                <a:solidFill>
                  <a:srgbClr val="1C2B22"/>
                </a:solidFill>
              </a:rPr>
              <a:t>Présence : La Rochelle · Bordeaux · Nantes · Paris</a:t>
            </a:r>
            <a:endParaRPr lang="en-US" sz="1100" dirty="0"/>
          </a:p>
        </p:txBody>
      </p:sp>
      <p:sp>
        <p:nvSpPr>
          <p:cNvPr id="10" name="Shape 8"/>
          <p:cNvSpPr/>
          <p:nvPr/>
        </p:nvSpPr>
        <p:spPr>
          <a:xfrm>
            <a:off x="5897880" y="1234440"/>
            <a:ext cx="1417320" cy="160020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5897880" y="1234440"/>
            <a:ext cx="1417320" cy="82296"/>
          </a:xfrm>
          <a:prstGeom prst="rect">
            <a:avLst/>
          </a:prstGeom>
          <a:solidFill>
            <a:srgbClr val="1E5FA8"/>
          </a:solidFill>
          <a:ln w="12700">
            <a:solidFill>
              <a:srgbClr val="1E5FA8"/>
            </a:solidFill>
            <a:prstDash val="solid"/>
          </a:ln>
        </p:spPr>
      </p:sp>
      <p:sp>
        <p:nvSpPr>
          <p:cNvPr id="12" name="Text 10"/>
          <p:cNvSpPr/>
          <p:nvPr/>
        </p:nvSpPr>
        <p:spPr>
          <a:xfrm>
            <a:off x="5897880" y="1463040"/>
            <a:ext cx="1417320" cy="777240"/>
          </a:xfrm>
          <a:prstGeom prst="rect">
            <a:avLst/>
          </a:prstGeom>
          <a:noFill/>
          <a:ln/>
        </p:spPr>
        <p:txBody>
          <a:bodyPr wrap="square" lIns="0" tIns="0" rIns="0" bIns="0" rtlCol="0" anchor="ctr"/>
          <a:lstStyle/>
          <a:p>
            <a:pPr algn="ctr" indent="0" marL="0">
              <a:buNone/>
            </a:pPr>
            <a:r>
              <a:rPr lang="en-US" sz="2800" b="1" dirty="0">
                <a:solidFill>
                  <a:srgbClr val="1E5FA8"/>
                </a:solidFill>
                <a:latin typeface="Georgia" pitchFamily="34" charset="0"/>
                <a:ea typeface="Georgia" pitchFamily="34" charset="-122"/>
                <a:cs typeface="Georgia" pitchFamily="34" charset="-120"/>
              </a:rPr>
              <a:t>1993</a:t>
            </a:r>
            <a:endParaRPr lang="en-US" sz="2800" dirty="0"/>
          </a:p>
        </p:txBody>
      </p:sp>
      <p:sp>
        <p:nvSpPr>
          <p:cNvPr id="13" name="Text 11"/>
          <p:cNvSpPr/>
          <p:nvPr/>
        </p:nvSpPr>
        <p:spPr>
          <a:xfrm>
            <a:off x="5897880" y="2194560"/>
            <a:ext cx="1417320" cy="502920"/>
          </a:xfrm>
          <a:prstGeom prst="rect">
            <a:avLst/>
          </a:prstGeom>
          <a:noFill/>
          <a:ln/>
        </p:spPr>
        <p:txBody>
          <a:bodyPr wrap="square" lIns="0" tIns="0" rIns="0" bIns="0" rtlCol="0" anchor="ctr"/>
          <a:lstStyle/>
          <a:p>
            <a:pPr algn="ctr" indent="0" marL="0">
              <a:buNone/>
            </a:pPr>
            <a:r>
              <a:rPr lang="en-US" sz="950" dirty="0">
                <a:solidFill>
                  <a:srgbClr val="4A5E54"/>
                </a:solidFill>
              </a:rPr>
              <a:t>Fondation</a:t>
            </a:r>
            <a:endParaRPr lang="en-US" sz="950" dirty="0"/>
          </a:p>
        </p:txBody>
      </p:sp>
      <p:sp>
        <p:nvSpPr>
          <p:cNvPr id="14" name="Shape 12"/>
          <p:cNvSpPr/>
          <p:nvPr/>
        </p:nvSpPr>
        <p:spPr>
          <a:xfrm>
            <a:off x="7498080" y="1234440"/>
            <a:ext cx="1417320" cy="160020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7498080" y="1234440"/>
            <a:ext cx="1417320" cy="82296"/>
          </a:xfrm>
          <a:prstGeom prst="rect">
            <a:avLst/>
          </a:prstGeom>
          <a:solidFill>
            <a:srgbClr val="1A6E4A"/>
          </a:solidFill>
          <a:ln w="12700">
            <a:solidFill>
              <a:srgbClr val="1A6E4A"/>
            </a:solidFill>
            <a:prstDash val="solid"/>
          </a:ln>
        </p:spPr>
      </p:sp>
      <p:sp>
        <p:nvSpPr>
          <p:cNvPr id="16" name="Text 14"/>
          <p:cNvSpPr/>
          <p:nvPr/>
        </p:nvSpPr>
        <p:spPr>
          <a:xfrm>
            <a:off x="7498080" y="1463040"/>
            <a:ext cx="1417320" cy="777240"/>
          </a:xfrm>
          <a:prstGeom prst="rect">
            <a:avLst/>
          </a:prstGeom>
          <a:noFill/>
          <a:ln/>
        </p:spPr>
        <p:txBody>
          <a:bodyPr wrap="square" lIns="0" tIns="0" rIns="0" bIns="0" rtlCol="0" anchor="ctr"/>
          <a:lstStyle/>
          <a:p>
            <a:pPr algn="ctr" indent="0" marL="0">
              <a:buNone/>
            </a:pPr>
            <a:r>
              <a:rPr lang="en-US" sz="2800" b="1" dirty="0">
                <a:solidFill>
                  <a:srgbClr val="1A6E4A"/>
                </a:solidFill>
                <a:latin typeface="Georgia" pitchFamily="34" charset="0"/>
                <a:ea typeface="Georgia" pitchFamily="34" charset="-122"/>
                <a:cs typeface="Georgia" pitchFamily="34" charset="-120"/>
              </a:rPr>
              <a:t>50+</a:t>
            </a:r>
            <a:endParaRPr lang="en-US" sz="2800" dirty="0"/>
          </a:p>
        </p:txBody>
      </p:sp>
      <p:sp>
        <p:nvSpPr>
          <p:cNvPr id="17" name="Text 15"/>
          <p:cNvSpPr/>
          <p:nvPr/>
        </p:nvSpPr>
        <p:spPr>
          <a:xfrm>
            <a:off x="7498080" y="2194560"/>
            <a:ext cx="1417320" cy="502920"/>
          </a:xfrm>
          <a:prstGeom prst="rect">
            <a:avLst/>
          </a:prstGeom>
          <a:noFill/>
          <a:ln/>
        </p:spPr>
        <p:txBody>
          <a:bodyPr wrap="square" lIns="0" tIns="0" rIns="0" bIns="0" rtlCol="0" anchor="ctr"/>
          <a:lstStyle/>
          <a:p>
            <a:pPr algn="ctr" indent="0" marL="0">
              <a:buNone/>
            </a:pPr>
            <a:r>
              <a:rPr lang="en-US" sz="950" dirty="0">
                <a:solidFill>
                  <a:srgbClr val="4A5E54"/>
                </a:solidFill>
              </a:rPr>
              <a:t>Collaborateurs</a:t>
            </a:r>
            <a:endParaRPr lang="en-US" sz="950" dirty="0"/>
          </a:p>
        </p:txBody>
      </p:sp>
      <p:sp>
        <p:nvSpPr>
          <p:cNvPr id="18" name="Shape 16"/>
          <p:cNvSpPr/>
          <p:nvPr/>
        </p:nvSpPr>
        <p:spPr>
          <a:xfrm>
            <a:off x="5897880" y="3017520"/>
            <a:ext cx="1417320" cy="160020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5897880" y="3017520"/>
            <a:ext cx="1417320" cy="82296"/>
          </a:xfrm>
          <a:prstGeom prst="rect">
            <a:avLst/>
          </a:prstGeom>
          <a:solidFill>
            <a:srgbClr val="0B4F8A"/>
          </a:solidFill>
          <a:ln w="12700">
            <a:solidFill>
              <a:srgbClr val="0B4F8A"/>
            </a:solidFill>
            <a:prstDash val="solid"/>
          </a:ln>
        </p:spPr>
      </p:sp>
      <p:sp>
        <p:nvSpPr>
          <p:cNvPr id="20" name="Text 18"/>
          <p:cNvSpPr/>
          <p:nvPr/>
        </p:nvSpPr>
        <p:spPr>
          <a:xfrm>
            <a:off x="5897880" y="3246120"/>
            <a:ext cx="1417320" cy="777240"/>
          </a:xfrm>
          <a:prstGeom prst="rect">
            <a:avLst/>
          </a:prstGeom>
          <a:noFill/>
          <a:ln/>
        </p:spPr>
        <p:txBody>
          <a:bodyPr wrap="square" lIns="0" tIns="0" rIns="0" bIns="0" rtlCol="0" anchor="ctr"/>
          <a:lstStyle/>
          <a:p>
            <a:pPr algn="ctr" indent="0" marL="0">
              <a:buNone/>
            </a:pPr>
            <a:r>
              <a:rPr lang="en-US" sz="2800" b="1" dirty="0">
                <a:solidFill>
                  <a:srgbClr val="0B4F8A"/>
                </a:solidFill>
                <a:latin typeface="Georgia" pitchFamily="34" charset="0"/>
                <a:ea typeface="Georgia" pitchFamily="34" charset="-122"/>
                <a:cs typeface="Georgia" pitchFamily="34" charset="-120"/>
              </a:rPr>
              <a:t>4</a:t>
            </a:r>
            <a:endParaRPr lang="en-US" sz="2800" dirty="0"/>
          </a:p>
        </p:txBody>
      </p:sp>
      <p:sp>
        <p:nvSpPr>
          <p:cNvPr id="21" name="Text 19"/>
          <p:cNvSpPr/>
          <p:nvPr/>
        </p:nvSpPr>
        <p:spPr>
          <a:xfrm>
            <a:off x="5897880" y="3977640"/>
            <a:ext cx="1417320" cy="502920"/>
          </a:xfrm>
          <a:prstGeom prst="rect">
            <a:avLst/>
          </a:prstGeom>
          <a:noFill/>
          <a:ln/>
        </p:spPr>
        <p:txBody>
          <a:bodyPr wrap="square" lIns="0" tIns="0" rIns="0" bIns="0" rtlCol="0" anchor="ctr"/>
          <a:lstStyle/>
          <a:p>
            <a:pPr algn="ctr" indent="0" marL="0">
              <a:buNone/>
            </a:pPr>
            <a:r>
              <a:rPr lang="en-US" sz="950" dirty="0">
                <a:solidFill>
                  <a:srgbClr val="4A5E54"/>
                </a:solidFill>
              </a:rPr>
              <a:t>Agences</a:t>
            </a:r>
            <a:endParaRPr lang="en-US" sz="950" dirty="0"/>
          </a:p>
        </p:txBody>
      </p:sp>
      <p:sp>
        <p:nvSpPr>
          <p:cNvPr id="22" name="Shape 20"/>
          <p:cNvSpPr/>
          <p:nvPr/>
        </p:nvSpPr>
        <p:spPr>
          <a:xfrm>
            <a:off x="7498080" y="3017520"/>
            <a:ext cx="1417320" cy="160020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7498080" y="3017520"/>
            <a:ext cx="1417320" cy="82296"/>
          </a:xfrm>
          <a:prstGeom prst="rect">
            <a:avLst/>
          </a:prstGeom>
          <a:solidFill>
            <a:srgbClr val="1AC87A"/>
          </a:solidFill>
          <a:ln w="12700">
            <a:solidFill>
              <a:srgbClr val="1AC87A"/>
            </a:solidFill>
            <a:prstDash val="solid"/>
          </a:ln>
        </p:spPr>
      </p:sp>
      <p:sp>
        <p:nvSpPr>
          <p:cNvPr id="24" name="Text 22"/>
          <p:cNvSpPr/>
          <p:nvPr/>
        </p:nvSpPr>
        <p:spPr>
          <a:xfrm>
            <a:off x="7498080" y="3246120"/>
            <a:ext cx="1417320" cy="777240"/>
          </a:xfrm>
          <a:prstGeom prst="rect">
            <a:avLst/>
          </a:prstGeom>
          <a:noFill/>
          <a:ln/>
        </p:spPr>
        <p:txBody>
          <a:bodyPr wrap="square" lIns="0" tIns="0" rIns="0" bIns="0" rtlCol="0" anchor="ctr"/>
          <a:lstStyle/>
          <a:p>
            <a:pPr algn="ctr" indent="0" marL="0">
              <a:buNone/>
            </a:pPr>
            <a:r>
              <a:rPr lang="en-US" sz="2800" b="1" dirty="0">
                <a:solidFill>
                  <a:srgbClr val="1AC87A"/>
                </a:solidFill>
                <a:latin typeface="Georgia" pitchFamily="34" charset="0"/>
                <a:ea typeface="Georgia" pitchFamily="34" charset="-122"/>
                <a:cs typeface="Georgia" pitchFamily="34" charset="-120"/>
              </a:rPr>
              <a:t>N°1</a:t>
            </a:r>
            <a:endParaRPr lang="en-US" sz="2800" dirty="0"/>
          </a:p>
        </p:txBody>
      </p:sp>
      <p:sp>
        <p:nvSpPr>
          <p:cNvPr id="25" name="Text 23"/>
          <p:cNvSpPr/>
          <p:nvPr/>
        </p:nvSpPr>
        <p:spPr>
          <a:xfrm>
            <a:off x="7498080" y="3977640"/>
            <a:ext cx="1417320" cy="502920"/>
          </a:xfrm>
          <a:prstGeom prst="rect">
            <a:avLst/>
          </a:prstGeom>
          <a:noFill/>
          <a:ln/>
        </p:spPr>
        <p:txBody>
          <a:bodyPr wrap="square" lIns="0" tIns="0" rIns="0" bIns="0" rtlCol="0" anchor="ctr"/>
          <a:lstStyle/>
          <a:p>
            <a:pPr algn="ctr" indent="0" marL="0">
              <a:buNone/>
            </a:pPr>
            <a:r>
              <a:rPr lang="en-US" sz="950" dirty="0">
                <a:solidFill>
                  <a:srgbClr val="4A5E54"/>
                </a:solidFill>
              </a:rPr>
              <a:t>Intégrateur SAP PME</a:t>
            </a:r>
            <a:endParaRPr lang="en-US" sz="950" dirty="0"/>
          </a:p>
        </p:txBody>
      </p:sp>
      <p:sp>
        <p:nvSpPr>
          <p:cNvPr id="26" name="Text 24"/>
          <p:cNvSpPr/>
          <p:nvPr/>
        </p:nvSpPr>
        <p:spPr>
          <a:xfrm>
            <a:off x="320040" y="4736592"/>
            <a:ext cx="8503920" cy="320040"/>
          </a:xfrm>
          <a:prstGeom prst="rect">
            <a:avLst/>
          </a:prstGeom>
          <a:solidFill>
            <a:srgbClr val="1E5FA8"/>
          </a:solidFill>
          <a:ln/>
        </p:spPr>
        <p:txBody>
          <a:bodyPr wrap="square" lIns="0" tIns="101600" rIns="101600" bIns="0" rtlCol="0" anchor="ctr"/>
          <a:lstStyle/>
          <a:p>
            <a:pPr algn="ctr" indent="0" marL="0">
              <a:buNone/>
            </a:pPr>
            <a:r>
              <a:rPr lang="en-US" sz="950" b="1" dirty="0">
                <a:solidFill>
                  <a:srgbClr val="FFFFFF"/>
                </a:solidFill>
              </a:rPr>
              <a:t>Valeurs : Innovation · Compréhension · Ténacité · Solidarité</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5FA8"/>
          </a:solidFill>
          <a:ln w="12700">
            <a:solidFill>
              <a:srgbClr val="1E5FA8"/>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54864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01 — Céréalog</a:t>
            </a:r>
            <a:endParaRPr lang="en-US" sz="2600" dirty="0"/>
          </a:p>
        </p:txBody>
      </p:sp>
      <p:sp>
        <p:nvSpPr>
          <p:cNvPr id="5" name="Text 3"/>
          <p:cNvSpPr/>
          <p:nvPr/>
        </p:nvSpPr>
        <p:spPr>
          <a:xfrm>
            <a:off x="5486400" y="0"/>
            <a:ext cx="3200400" cy="960120"/>
          </a:xfrm>
          <a:prstGeom prst="rect">
            <a:avLst/>
          </a:prstGeom>
          <a:noFill/>
          <a:ln/>
        </p:spPr>
        <p:txBody>
          <a:bodyPr wrap="square" lIns="0" tIns="0" rIns="0" bIns="0" rtlCol="0" anchor="ctr"/>
          <a:lstStyle/>
          <a:p>
            <a:pPr algn="r" indent="0" marL="0">
              <a:buNone/>
            </a:pPr>
            <a:r>
              <a:rPr lang="en-US" sz="900" b="1" spc="300" kern="0" dirty="0">
                <a:solidFill>
                  <a:srgbClr val="B8CFEC"/>
                </a:solidFill>
              </a:rPr>
              <a:t>ACTIONS RSE 2024 – 2026</a:t>
            </a:r>
            <a:endParaRPr lang="en-US" sz="900" dirty="0"/>
          </a:p>
        </p:txBody>
      </p:sp>
      <p:sp>
        <p:nvSpPr>
          <p:cNvPr id="6" name="Shape 4"/>
          <p:cNvSpPr/>
          <p:nvPr/>
        </p:nvSpPr>
        <p:spPr>
          <a:xfrm>
            <a:off x="274320" y="1170432"/>
            <a:ext cx="4114800" cy="175564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100584" cy="1755648"/>
          </a:xfrm>
          <a:prstGeom prst="rect">
            <a:avLst/>
          </a:prstGeom>
          <a:solidFill>
            <a:srgbClr val="1A6E4A"/>
          </a:solidFill>
          <a:ln w="12700">
            <a:solidFill>
              <a:srgbClr val="1A6E4A"/>
            </a:solidFill>
            <a:prstDash val="solid"/>
          </a:ln>
        </p:spPr>
      </p:sp>
      <p:sp>
        <p:nvSpPr>
          <p:cNvPr id="8" name="Shape 6"/>
          <p:cNvSpPr/>
          <p:nvPr/>
        </p:nvSpPr>
        <p:spPr>
          <a:xfrm>
            <a:off x="3273552" y="1280160"/>
            <a:ext cx="1005840" cy="256032"/>
          </a:xfrm>
          <a:prstGeom prst="rect">
            <a:avLst/>
          </a:prstGeom>
          <a:solidFill>
            <a:srgbClr val="1A6E4A">
              <a:alpha val="15000"/>
            </a:srgbClr>
          </a:solidFill>
          <a:ln w="12700">
            <a:solidFill>
              <a:srgbClr val="1A6E4A"/>
            </a:solidFill>
            <a:prstDash val="solid"/>
          </a:ln>
        </p:spPr>
      </p:sp>
      <p:sp>
        <p:nvSpPr>
          <p:cNvPr id="9" name="Text 7"/>
          <p:cNvSpPr/>
          <p:nvPr/>
        </p:nvSpPr>
        <p:spPr>
          <a:xfrm>
            <a:off x="3273552" y="1280160"/>
            <a:ext cx="1005840" cy="256032"/>
          </a:xfrm>
          <a:prstGeom prst="rect">
            <a:avLst/>
          </a:prstGeom>
          <a:noFill/>
          <a:ln/>
        </p:spPr>
        <p:txBody>
          <a:bodyPr wrap="square" lIns="0" tIns="0" rIns="0" bIns="0" rtlCol="0" anchor="ctr"/>
          <a:lstStyle/>
          <a:p>
            <a:pPr algn="ctr" indent="0" marL="0">
              <a:buNone/>
            </a:pPr>
            <a:r>
              <a:rPr lang="en-US" sz="700" b="1" dirty="0">
                <a:solidFill>
                  <a:srgbClr val="1A6E4A"/>
                </a:solidFill>
              </a:rPr>
              <a:t>CERTIFICATION</a:t>
            </a:r>
            <a:endParaRPr lang="en-US" sz="700" dirty="0"/>
          </a:p>
        </p:txBody>
      </p:sp>
      <p:sp>
        <p:nvSpPr>
          <p:cNvPr id="10" name="Text 8"/>
          <p:cNvSpPr/>
          <p:nvPr/>
        </p:nvSpPr>
        <p:spPr>
          <a:xfrm>
            <a:off x="475488" y="1261872"/>
            <a:ext cx="2286000" cy="274320"/>
          </a:xfrm>
          <a:prstGeom prst="rect">
            <a:avLst/>
          </a:prstGeom>
          <a:noFill/>
          <a:ln/>
        </p:spPr>
        <p:txBody>
          <a:bodyPr wrap="square" lIns="0" tIns="0" rIns="0" bIns="0" rtlCol="0" anchor="ctr"/>
          <a:lstStyle/>
          <a:p>
            <a:pPr indent="0" marL="0">
              <a:buNone/>
            </a:pPr>
            <a:r>
              <a:rPr lang="en-US" sz="900" b="1" dirty="0">
                <a:solidFill>
                  <a:srgbClr val="1A6E4A"/>
                </a:solidFill>
              </a:rPr>
              <a:t>Mars 2026</a:t>
            </a:r>
            <a:endParaRPr lang="en-US" sz="900" dirty="0"/>
          </a:p>
        </p:txBody>
      </p:sp>
      <p:sp>
        <p:nvSpPr>
          <p:cNvPr id="11" name="Text 9"/>
          <p:cNvSpPr/>
          <p:nvPr/>
        </p:nvSpPr>
        <p:spPr>
          <a:xfrm>
            <a:off x="475488" y="1554480"/>
            <a:ext cx="3794760" cy="365760"/>
          </a:xfrm>
          <a:prstGeom prst="rect">
            <a:avLst/>
          </a:prstGeom>
          <a:noFill/>
          <a:ln/>
        </p:spPr>
        <p:txBody>
          <a:bodyPr wrap="square" lIns="0" tIns="0" rIns="0" bIns="0" rtlCol="0" anchor="ctr"/>
          <a:lstStyle/>
          <a:p>
            <a:pPr indent="0" marL="0">
              <a:buNone/>
            </a:pPr>
            <a:r>
              <a:rPr lang="en-US" sz="1250" b="1" dirty="0">
                <a:solidFill>
                  <a:srgbClr val="1C2B22"/>
                </a:solidFill>
                <a:latin typeface="Georgia" pitchFamily="34" charset="0"/>
                <a:ea typeface="Georgia" pitchFamily="34" charset="-122"/>
                <a:cs typeface="Georgia" pitchFamily="34" charset="-120"/>
              </a:rPr>
              <a:t>Label Numérique Responsable</a:t>
            </a:r>
            <a:endParaRPr lang="en-US" sz="1250" dirty="0"/>
          </a:p>
        </p:txBody>
      </p:sp>
      <p:sp>
        <p:nvSpPr>
          <p:cNvPr id="12" name="Text 10"/>
          <p:cNvSpPr/>
          <p:nvPr/>
        </p:nvSpPr>
        <p:spPr>
          <a:xfrm>
            <a:off x="475488" y="1956816"/>
            <a:ext cx="3794760" cy="868680"/>
          </a:xfrm>
          <a:prstGeom prst="rect">
            <a:avLst/>
          </a:prstGeom>
          <a:noFill/>
          <a:ln/>
        </p:spPr>
        <p:txBody>
          <a:bodyPr wrap="square" lIns="0" tIns="0" rIns="0" bIns="0" rtlCol="0" anchor="ctr"/>
          <a:lstStyle/>
          <a:p>
            <a:pPr indent="0" marL="0">
              <a:buNone/>
            </a:pPr>
            <a:r>
              <a:rPr lang="en-US" sz="950" dirty="0">
                <a:solidFill>
                  <a:srgbClr val="4A5E54"/>
                </a:solidFill>
              </a:rPr>
              <a:t>Audit obtenu le jeudi 12 mars 2026. Certification attestant d'une démarche numérique éthique et durable.</a:t>
            </a:r>
            <a:endParaRPr lang="en-US" sz="950" dirty="0"/>
          </a:p>
        </p:txBody>
      </p:sp>
      <p:sp>
        <p:nvSpPr>
          <p:cNvPr id="13" name="Shape 11"/>
          <p:cNvSpPr/>
          <p:nvPr/>
        </p:nvSpPr>
        <p:spPr>
          <a:xfrm>
            <a:off x="4709160" y="1170432"/>
            <a:ext cx="4114800" cy="175564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4709160" y="1170432"/>
            <a:ext cx="100584" cy="1755648"/>
          </a:xfrm>
          <a:prstGeom prst="rect">
            <a:avLst/>
          </a:prstGeom>
          <a:solidFill>
            <a:srgbClr val="1E5FA8"/>
          </a:solidFill>
          <a:ln w="12700">
            <a:solidFill>
              <a:srgbClr val="1E5FA8"/>
            </a:solidFill>
            <a:prstDash val="solid"/>
          </a:ln>
        </p:spPr>
      </p:sp>
      <p:sp>
        <p:nvSpPr>
          <p:cNvPr id="15" name="Shape 13"/>
          <p:cNvSpPr/>
          <p:nvPr/>
        </p:nvSpPr>
        <p:spPr>
          <a:xfrm>
            <a:off x="7708392" y="1280160"/>
            <a:ext cx="1005840" cy="256032"/>
          </a:xfrm>
          <a:prstGeom prst="rect">
            <a:avLst/>
          </a:prstGeom>
          <a:solidFill>
            <a:srgbClr val="1E5FA8">
              <a:alpha val="15000"/>
            </a:srgbClr>
          </a:solidFill>
          <a:ln w="12700">
            <a:solidFill>
              <a:srgbClr val="1E5FA8"/>
            </a:solidFill>
            <a:prstDash val="solid"/>
          </a:ln>
        </p:spPr>
      </p:sp>
      <p:sp>
        <p:nvSpPr>
          <p:cNvPr id="16" name="Text 14"/>
          <p:cNvSpPr/>
          <p:nvPr/>
        </p:nvSpPr>
        <p:spPr>
          <a:xfrm>
            <a:off x="7708392" y="1280160"/>
            <a:ext cx="1005840" cy="256032"/>
          </a:xfrm>
          <a:prstGeom prst="rect">
            <a:avLst/>
          </a:prstGeom>
          <a:noFill/>
          <a:ln/>
        </p:spPr>
        <p:txBody>
          <a:bodyPr wrap="square" lIns="0" tIns="0" rIns="0" bIns="0" rtlCol="0" anchor="ctr"/>
          <a:lstStyle/>
          <a:p>
            <a:pPr algn="ctr" indent="0" marL="0">
              <a:buNone/>
            </a:pPr>
            <a:r>
              <a:rPr lang="en-US" sz="700" b="1" dirty="0">
                <a:solidFill>
                  <a:srgbClr val="1E5FA8"/>
                </a:solidFill>
              </a:rPr>
              <a:t>EN COURS</a:t>
            </a:r>
            <a:endParaRPr lang="en-US" sz="700" dirty="0"/>
          </a:p>
        </p:txBody>
      </p:sp>
      <p:sp>
        <p:nvSpPr>
          <p:cNvPr id="17" name="Text 15"/>
          <p:cNvSpPr/>
          <p:nvPr/>
        </p:nvSpPr>
        <p:spPr>
          <a:xfrm>
            <a:off x="4910328" y="1261872"/>
            <a:ext cx="2286000" cy="274320"/>
          </a:xfrm>
          <a:prstGeom prst="rect">
            <a:avLst/>
          </a:prstGeom>
          <a:noFill/>
          <a:ln/>
        </p:spPr>
        <p:txBody>
          <a:bodyPr wrap="square" lIns="0" tIns="0" rIns="0" bIns="0" rtlCol="0" anchor="ctr"/>
          <a:lstStyle/>
          <a:p>
            <a:pPr indent="0" marL="0">
              <a:buNone/>
            </a:pPr>
            <a:r>
              <a:rPr lang="en-US" sz="900" b="1" dirty="0">
                <a:solidFill>
                  <a:srgbClr val="1E5FA8"/>
                </a:solidFill>
              </a:rPr>
              <a:t>2026 (en cours)</a:t>
            </a:r>
            <a:endParaRPr lang="en-US" sz="900" dirty="0"/>
          </a:p>
        </p:txBody>
      </p:sp>
      <p:sp>
        <p:nvSpPr>
          <p:cNvPr id="18" name="Text 16"/>
          <p:cNvSpPr/>
          <p:nvPr/>
        </p:nvSpPr>
        <p:spPr>
          <a:xfrm>
            <a:off x="4910328" y="1554480"/>
            <a:ext cx="3794760" cy="365760"/>
          </a:xfrm>
          <a:prstGeom prst="rect">
            <a:avLst/>
          </a:prstGeom>
          <a:noFill/>
          <a:ln/>
        </p:spPr>
        <p:txBody>
          <a:bodyPr wrap="square" lIns="0" tIns="0" rIns="0" bIns="0" rtlCol="0" anchor="ctr"/>
          <a:lstStyle/>
          <a:p>
            <a:pPr indent="0" marL="0">
              <a:buNone/>
            </a:pPr>
            <a:r>
              <a:rPr lang="en-US" sz="1250" b="1" dirty="0">
                <a:solidFill>
                  <a:srgbClr val="1C2B22"/>
                </a:solidFill>
                <a:latin typeface="Georgia" pitchFamily="34" charset="0"/>
                <a:ea typeface="Georgia" pitchFamily="34" charset="-122"/>
                <a:cs typeface="Georgia" pitchFamily="34" charset="-120"/>
              </a:rPr>
              <a:t>15 Engagements RSE</a:t>
            </a:r>
            <a:endParaRPr lang="en-US" sz="1250" dirty="0"/>
          </a:p>
        </p:txBody>
      </p:sp>
      <p:sp>
        <p:nvSpPr>
          <p:cNvPr id="19" name="Text 17"/>
          <p:cNvSpPr/>
          <p:nvPr/>
        </p:nvSpPr>
        <p:spPr>
          <a:xfrm>
            <a:off x="4910328" y="1956816"/>
            <a:ext cx="3794760" cy="868680"/>
          </a:xfrm>
          <a:prstGeom prst="rect">
            <a:avLst/>
          </a:prstGeom>
          <a:noFill/>
          <a:ln/>
        </p:spPr>
        <p:txBody>
          <a:bodyPr wrap="square" lIns="0" tIns="0" rIns="0" bIns="0" rtlCol="0" anchor="ctr"/>
          <a:lstStyle/>
          <a:p>
            <a:pPr indent="0" marL="0">
              <a:buNone/>
            </a:pPr>
            <a:r>
              <a:rPr lang="en-US" sz="950" dirty="0">
                <a:solidFill>
                  <a:srgbClr val="4A5E54"/>
                </a:solidFill>
              </a:rPr>
              <a:t>Rédaction active de 15 engagements RSE formalisés sur les deux prochaines années, couvrant les axes environnement, social et gouvernance.</a:t>
            </a:r>
            <a:endParaRPr lang="en-US" sz="950" dirty="0"/>
          </a:p>
        </p:txBody>
      </p:sp>
      <p:sp>
        <p:nvSpPr>
          <p:cNvPr id="20" name="Shape 18"/>
          <p:cNvSpPr/>
          <p:nvPr/>
        </p:nvSpPr>
        <p:spPr>
          <a:xfrm>
            <a:off x="274320" y="3090672"/>
            <a:ext cx="4114800" cy="175564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274320" y="3090672"/>
            <a:ext cx="100584" cy="1755648"/>
          </a:xfrm>
          <a:prstGeom prst="rect">
            <a:avLst/>
          </a:prstGeom>
          <a:solidFill>
            <a:srgbClr val="0B4F8A"/>
          </a:solidFill>
          <a:ln w="12700">
            <a:solidFill>
              <a:srgbClr val="0B4F8A"/>
            </a:solidFill>
            <a:prstDash val="solid"/>
          </a:ln>
        </p:spPr>
      </p:sp>
      <p:sp>
        <p:nvSpPr>
          <p:cNvPr id="22" name="Shape 20"/>
          <p:cNvSpPr/>
          <p:nvPr/>
        </p:nvSpPr>
        <p:spPr>
          <a:xfrm>
            <a:off x="3273552" y="3200400"/>
            <a:ext cx="1005840" cy="256032"/>
          </a:xfrm>
          <a:prstGeom prst="rect">
            <a:avLst/>
          </a:prstGeom>
          <a:solidFill>
            <a:srgbClr val="0B4F8A">
              <a:alpha val="15000"/>
            </a:srgbClr>
          </a:solidFill>
          <a:ln w="12700">
            <a:solidFill>
              <a:srgbClr val="0B4F8A"/>
            </a:solidFill>
            <a:prstDash val="solid"/>
          </a:ln>
        </p:spPr>
      </p:sp>
      <p:sp>
        <p:nvSpPr>
          <p:cNvPr id="23" name="Text 21"/>
          <p:cNvSpPr/>
          <p:nvPr/>
        </p:nvSpPr>
        <p:spPr>
          <a:xfrm>
            <a:off x="3273552" y="3200400"/>
            <a:ext cx="1005840" cy="256032"/>
          </a:xfrm>
          <a:prstGeom prst="rect">
            <a:avLst/>
          </a:prstGeom>
          <a:noFill/>
          <a:ln/>
        </p:spPr>
        <p:txBody>
          <a:bodyPr wrap="square" lIns="0" tIns="0" rIns="0" bIns="0" rtlCol="0" anchor="ctr"/>
          <a:lstStyle/>
          <a:p>
            <a:pPr algn="ctr" indent="0" marL="0">
              <a:buNone/>
            </a:pPr>
            <a:r>
              <a:rPr lang="en-US" sz="700" b="1" dirty="0">
                <a:solidFill>
                  <a:srgbClr val="0B4F8A"/>
                </a:solidFill>
              </a:rPr>
              <a:t>SOCIAL</a:t>
            </a:r>
            <a:endParaRPr lang="en-US" sz="700" dirty="0"/>
          </a:p>
        </p:txBody>
      </p:sp>
      <p:sp>
        <p:nvSpPr>
          <p:cNvPr id="24" name="Text 22"/>
          <p:cNvSpPr/>
          <p:nvPr/>
        </p:nvSpPr>
        <p:spPr>
          <a:xfrm>
            <a:off x="475488" y="3182112"/>
            <a:ext cx="2286000" cy="274320"/>
          </a:xfrm>
          <a:prstGeom prst="rect">
            <a:avLst/>
          </a:prstGeom>
          <a:noFill/>
          <a:ln/>
        </p:spPr>
        <p:txBody>
          <a:bodyPr wrap="square" lIns="0" tIns="0" rIns="0" bIns="0" rtlCol="0" anchor="ctr"/>
          <a:lstStyle/>
          <a:p>
            <a:pPr indent="0" marL="0">
              <a:buNone/>
            </a:pPr>
            <a:r>
              <a:rPr lang="en-US" sz="900" b="1" dirty="0">
                <a:solidFill>
                  <a:srgbClr val="0B4F8A"/>
                </a:solidFill>
              </a:rPr>
              <a:t>Novembre 2024</a:t>
            </a:r>
            <a:endParaRPr lang="en-US" sz="900" dirty="0"/>
          </a:p>
        </p:txBody>
      </p:sp>
      <p:sp>
        <p:nvSpPr>
          <p:cNvPr id="25" name="Text 23"/>
          <p:cNvSpPr/>
          <p:nvPr/>
        </p:nvSpPr>
        <p:spPr>
          <a:xfrm>
            <a:off x="475488" y="3474720"/>
            <a:ext cx="3794760" cy="365760"/>
          </a:xfrm>
          <a:prstGeom prst="rect">
            <a:avLst/>
          </a:prstGeom>
          <a:noFill/>
          <a:ln/>
        </p:spPr>
        <p:txBody>
          <a:bodyPr wrap="square" lIns="0" tIns="0" rIns="0" bIns="0" rtlCol="0" anchor="ctr"/>
          <a:lstStyle/>
          <a:p>
            <a:pPr indent="0" marL="0">
              <a:buNone/>
            </a:pPr>
            <a:r>
              <a:rPr lang="en-US" sz="1250" b="1" dirty="0">
                <a:solidFill>
                  <a:srgbClr val="1C2B22"/>
                </a:solidFill>
                <a:latin typeface="Georgia" pitchFamily="34" charset="0"/>
                <a:ea typeface="Georgia" pitchFamily="34" charset="-122"/>
                <a:cs typeface="Georgia" pitchFamily="34" charset="-120"/>
              </a:rPr>
              <a:t>Marathon de La Rochelle</a:t>
            </a:r>
            <a:endParaRPr lang="en-US" sz="1250" dirty="0"/>
          </a:p>
        </p:txBody>
      </p:sp>
      <p:sp>
        <p:nvSpPr>
          <p:cNvPr id="26" name="Text 24"/>
          <p:cNvSpPr/>
          <p:nvPr/>
        </p:nvSpPr>
        <p:spPr>
          <a:xfrm>
            <a:off x="475488" y="3877056"/>
            <a:ext cx="3794760" cy="868680"/>
          </a:xfrm>
          <a:prstGeom prst="rect">
            <a:avLst/>
          </a:prstGeom>
          <a:noFill/>
          <a:ln/>
        </p:spPr>
        <p:txBody>
          <a:bodyPr wrap="square" lIns="0" tIns="0" rIns="0" bIns="0" rtlCol="0" anchor="ctr"/>
          <a:lstStyle/>
          <a:p>
            <a:pPr indent="0" marL="0">
              <a:buNone/>
            </a:pPr>
            <a:r>
              <a:rPr lang="en-US" sz="950" dirty="0">
                <a:solidFill>
                  <a:srgbClr val="4A5E54"/>
                </a:solidFill>
              </a:rPr>
              <a:t>8 coureurs engagés dans le Challenge Entreprises — action de cohésion et de promotion du bien-être au travail.</a:t>
            </a:r>
            <a:endParaRPr lang="en-US" sz="950" dirty="0"/>
          </a:p>
        </p:txBody>
      </p:sp>
      <p:sp>
        <p:nvSpPr>
          <p:cNvPr id="27" name="Shape 25"/>
          <p:cNvSpPr/>
          <p:nvPr/>
        </p:nvSpPr>
        <p:spPr>
          <a:xfrm>
            <a:off x="4709160" y="3090672"/>
            <a:ext cx="4114800" cy="175564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28" name="Shape 26"/>
          <p:cNvSpPr/>
          <p:nvPr/>
        </p:nvSpPr>
        <p:spPr>
          <a:xfrm>
            <a:off x="4709160" y="3090672"/>
            <a:ext cx="100584" cy="1755648"/>
          </a:xfrm>
          <a:prstGeom prst="rect">
            <a:avLst/>
          </a:prstGeom>
          <a:solidFill>
            <a:srgbClr val="1A6E4A"/>
          </a:solidFill>
          <a:ln w="12700">
            <a:solidFill>
              <a:srgbClr val="1A6E4A"/>
            </a:solidFill>
            <a:prstDash val="solid"/>
          </a:ln>
        </p:spPr>
      </p:sp>
      <p:sp>
        <p:nvSpPr>
          <p:cNvPr id="29" name="Shape 27"/>
          <p:cNvSpPr/>
          <p:nvPr/>
        </p:nvSpPr>
        <p:spPr>
          <a:xfrm>
            <a:off x="7708392" y="3200400"/>
            <a:ext cx="1005840" cy="256032"/>
          </a:xfrm>
          <a:prstGeom prst="rect">
            <a:avLst/>
          </a:prstGeom>
          <a:solidFill>
            <a:srgbClr val="1A6E4A">
              <a:alpha val="15000"/>
            </a:srgbClr>
          </a:solidFill>
          <a:ln w="12700">
            <a:solidFill>
              <a:srgbClr val="1A6E4A"/>
            </a:solidFill>
            <a:prstDash val="solid"/>
          </a:ln>
        </p:spPr>
      </p:sp>
      <p:sp>
        <p:nvSpPr>
          <p:cNvPr id="30" name="Text 28"/>
          <p:cNvSpPr/>
          <p:nvPr/>
        </p:nvSpPr>
        <p:spPr>
          <a:xfrm>
            <a:off x="7708392" y="3200400"/>
            <a:ext cx="1005840" cy="256032"/>
          </a:xfrm>
          <a:prstGeom prst="rect">
            <a:avLst/>
          </a:prstGeom>
          <a:noFill/>
          <a:ln/>
        </p:spPr>
        <p:txBody>
          <a:bodyPr wrap="square" lIns="0" tIns="0" rIns="0" bIns="0" rtlCol="0" anchor="ctr"/>
          <a:lstStyle/>
          <a:p>
            <a:pPr algn="ctr" indent="0" marL="0">
              <a:buNone/>
            </a:pPr>
            <a:r>
              <a:rPr lang="en-US" sz="700" b="1" dirty="0">
                <a:solidFill>
                  <a:srgbClr val="1A6E4A"/>
                </a:solidFill>
              </a:rPr>
              <a:t>SOCIAL</a:t>
            </a:r>
            <a:endParaRPr lang="en-US" sz="700" dirty="0"/>
          </a:p>
        </p:txBody>
      </p:sp>
      <p:sp>
        <p:nvSpPr>
          <p:cNvPr id="31" name="Text 29"/>
          <p:cNvSpPr/>
          <p:nvPr/>
        </p:nvSpPr>
        <p:spPr>
          <a:xfrm>
            <a:off x="4910328" y="3182112"/>
            <a:ext cx="2286000" cy="274320"/>
          </a:xfrm>
          <a:prstGeom prst="rect">
            <a:avLst/>
          </a:prstGeom>
          <a:noFill/>
          <a:ln/>
        </p:spPr>
        <p:txBody>
          <a:bodyPr wrap="square" lIns="0" tIns="0" rIns="0" bIns="0" rtlCol="0" anchor="ctr"/>
          <a:lstStyle/>
          <a:p>
            <a:pPr indent="0" marL="0">
              <a:buNone/>
            </a:pPr>
            <a:r>
              <a:rPr lang="en-US" sz="900" b="1" dirty="0">
                <a:solidFill>
                  <a:srgbClr val="1A6E4A"/>
                </a:solidFill>
              </a:rPr>
              <a:t>Été 2024</a:t>
            </a:r>
            <a:endParaRPr lang="en-US" sz="900" dirty="0"/>
          </a:p>
        </p:txBody>
      </p:sp>
      <p:sp>
        <p:nvSpPr>
          <p:cNvPr id="32" name="Text 30"/>
          <p:cNvSpPr/>
          <p:nvPr/>
        </p:nvSpPr>
        <p:spPr>
          <a:xfrm>
            <a:off x="4910328" y="3474720"/>
            <a:ext cx="3794760" cy="365760"/>
          </a:xfrm>
          <a:prstGeom prst="rect">
            <a:avLst/>
          </a:prstGeom>
          <a:noFill/>
          <a:ln/>
        </p:spPr>
        <p:txBody>
          <a:bodyPr wrap="square" lIns="0" tIns="0" rIns="0" bIns="0" rtlCol="0" anchor="ctr"/>
          <a:lstStyle/>
          <a:p>
            <a:pPr indent="0" marL="0">
              <a:buNone/>
            </a:pPr>
            <a:r>
              <a:rPr lang="en-US" sz="1250" b="1" dirty="0">
                <a:solidFill>
                  <a:srgbClr val="1C2B22"/>
                </a:solidFill>
                <a:latin typeface="Georgia" pitchFamily="34" charset="0"/>
                <a:ea typeface="Georgia" pitchFamily="34" charset="-122"/>
                <a:cs typeface="Georgia" pitchFamily="34" charset="-120"/>
              </a:rPr>
              <a:t>Team Building Annuel</a:t>
            </a:r>
            <a:endParaRPr lang="en-US" sz="1250" dirty="0"/>
          </a:p>
        </p:txBody>
      </p:sp>
      <p:sp>
        <p:nvSpPr>
          <p:cNvPr id="33" name="Text 31"/>
          <p:cNvSpPr/>
          <p:nvPr/>
        </p:nvSpPr>
        <p:spPr>
          <a:xfrm>
            <a:off x="4910328" y="3877056"/>
            <a:ext cx="3794760" cy="868680"/>
          </a:xfrm>
          <a:prstGeom prst="rect">
            <a:avLst/>
          </a:prstGeom>
          <a:noFill/>
          <a:ln/>
        </p:spPr>
        <p:txBody>
          <a:bodyPr wrap="square" lIns="0" tIns="0" rIns="0" bIns="0" rtlCol="0" anchor="ctr"/>
          <a:lstStyle/>
          <a:p>
            <a:pPr indent="0" marL="0">
              <a:buNone/>
            </a:pPr>
            <a:r>
              <a:rPr lang="en-US" sz="950" dirty="0">
                <a:solidFill>
                  <a:srgbClr val="4A5E54"/>
                </a:solidFill>
              </a:rPr>
              <a:t>Réunion annuelle de l'équipe à Sauternes. Renforcement de la cohésion et de la culture d'entreprise.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5FA8"/>
          </a:solidFill>
          <a:ln w="12700">
            <a:solidFill>
              <a:srgbClr val="1E5FA8"/>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54864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01 — Céréalog</a:t>
            </a:r>
            <a:endParaRPr lang="en-US" sz="2600" dirty="0"/>
          </a:p>
        </p:txBody>
      </p:sp>
      <p:sp>
        <p:nvSpPr>
          <p:cNvPr id="5" name="Text 3"/>
          <p:cNvSpPr/>
          <p:nvPr/>
        </p:nvSpPr>
        <p:spPr>
          <a:xfrm>
            <a:off x="5486400" y="0"/>
            <a:ext cx="3200400" cy="960120"/>
          </a:xfrm>
          <a:prstGeom prst="rect">
            <a:avLst/>
          </a:prstGeom>
          <a:noFill/>
          <a:ln/>
        </p:spPr>
        <p:txBody>
          <a:bodyPr wrap="square" lIns="0" tIns="0" rIns="0" bIns="0" rtlCol="0" anchor="ctr"/>
          <a:lstStyle/>
          <a:p>
            <a:pPr algn="r" indent="0" marL="0">
              <a:buNone/>
            </a:pPr>
            <a:r>
              <a:rPr lang="en-US" sz="900" b="1" spc="300" kern="0" dirty="0">
                <a:solidFill>
                  <a:srgbClr val="B8CFEC"/>
                </a:solidFill>
              </a:rPr>
              <a:t>POLITIQUE RSE VS RÉALISATIONS</a:t>
            </a:r>
            <a:endParaRPr lang="en-US" sz="900" dirty="0"/>
          </a:p>
        </p:txBody>
      </p:sp>
      <p:sp>
        <p:nvSpPr>
          <p:cNvPr id="6" name="Shape 4"/>
          <p:cNvSpPr/>
          <p:nvPr/>
        </p:nvSpPr>
        <p:spPr>
          <a:xfrm>
            <a:off x="274320" y="1170432"/>
            <a:ext cx="4023360" cy="374904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4023360" cy="438912"/>
          </a:xfrm>
          <a:prstGeom prst="rect">
            <a:avLst/>
          </a:prstGeom>
          <a:solidFill>
            <a:srgbClr val="1E5FA8"/>
          </a:solidFill>
          <a:ln w="12700">
            <a:solidFill>
              <a:srgbClr val="1E5FA8"/>
            </a:solidFill>
            <a:prstDash val="solid"/>
          </a:ln>
        </p:spPr>
      </p:sp>
      <p:sp>
        <p:nvSpPr>
          <p:cNvPr id="8" name="Text 6"/>
          <p:cNvSpPr/>
          <p:nvPr/>
        </p:nvSpPr>
        <p:spPr>
          <a:xfrm>
            <a:off x="411480" y="1170432"/>
            <a:ext cx="3749040" cy="438912"/>
          </a:xfrm>
          <a:prstGeom prst="rect">
            <a:avLst/>
          </a:prstGeom>
          <a:noFill/>
          <a:ln/>
        </p:spPr>
        <p:txBody>
          <a:bodyPr wrap="square" lIns="0" tIns="0" rIns="0" bIns="0" rtlCol="0" anchor="ctr"/>
          <a:lstStyle/>
          <a:p>
            <a:pPr indent="0" marL="0">
              <a:buNone/>
            </a:pPr>
            <a:r>
              <a:rPr lang="en-US" sz="1200" b="1" dirty="0">
                <a:solidFill>
                  <a:srgbClr val="FFFFFF"/>
                </a:solidFill>
              </a:rPr>
              <a:t>📄  Politique RSE déclarée</a:t>
            </a:r>
            <a:endParaRPr lang="en-US" sz="1200" dirty="0"/>
          </a:p>
        </p:txBody>
      </p:sp>
      <p:sp>
        <p:nvSpPr>
          <p:cNvPr id="9" name="Shape 7"/>
          <p:cNvSpPr/>
          <p:nvPr/>
        </p:nvSpPr>
        <p:spPr>
          <a:xfrm>
            <a:off x="438912" y="1856232"/>
            <a:ext cx="201168" cy="201168"/>
          </a:xfrm>
          <a:prstGeom prst="ellipse">
            <a:avLst/>
          </a:prstGeom>
          <a:solidFill>
            <a:srgbClr val="1A6E4A"/>
          </a:solidFill>
          <a:ln w="12700">
            <a:solidFill>
              <a:srgbClr val="1A6E4A"/>
            </a:solidFill>
            <a:prstDash val="solid"/>
          </a:ln>
        </p:spPr>
      </p:sp>
      <p:sp>
        <p:nvSpPr>
          <p:cNvPr id="10" name="Text 8"/>
          <p:cNvSpPr/>
          <p:nvPr/>
        </p:nvSpPr>
        <p:spPr>
          <a:xfrm>
            <a:off x="438912" y="1819656"/>
            <a:ext cx="201168" cy="27432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1" name="Text 9"/>
          <p:cNvSpPr/>
          <p:nvPr/>
        </p:nvSpPr>
        <p:spPr>
          <a:xfrm>
            <a:off x="749808" y="1783080"/>
            <a:ext cx="3383280" cy="502920"/>
          </a:xfrm>
          <a:prstGeom prst="rect">
            <a:avLst/>
          </a:prstGeom>
          <a:noFill/>
          <a:ln/>
        </p:spPr>
        <p:txBody>
          <a:bodyPr wrap="square" lIns="0" tIns="0" rIns="0" bIns="0" rtlCol="0" anchor="ctr"/>
          <a:lstStyle/>
          <a:p>
            <a:pPr indent="0" marL="0">
              <a:buNone/>
            </a:pPr>
            <a:r>
              <a:rPr lang="en-US" sz="1000" dirty="0">
                <a:solidFill>
                  <a:srgbClr val="1C2B22"/>
                </a:solidFill>
              </a:rPr>
              <a:t>Favoriser l'accès à la formation pour tous les salariés</a:t>
            </a:r>
            <a:endParaRPr lang="en-US" sz="1000" dirty="0"/>
          </a:p>
        </p:txBody>
      </p:sp>
      <p:sp>
        <p:nvSpPr>
          <p:cNvPr id="12" name="Shape 10"/>
          <p:cNvSpPr/>
          <p:nvPr/>
        </p:nvSpPr>
        <p:spPr>
          <a:xfrm>
            <a:off x="438912" y="2432304"/>
            <a:ext cx="201168" cy="201168"/>
          </a:xfrm>
          <a:prstGeom prst="ellipse">
            <a:avLst/>
          </a:prstGeom>
          <a:solidFill>
            <a:srgbClr val="1A6E4A"/>
          </a:solidFill>
          <a:ln w="12700">
            <a:solidFill>
              <a:srgbClr val="1A6E4A"/>
            </a:solidFill>
            <a:prstDash val="solid"/>
          </a:ln>
        </p:spPr>
      </p:sp>
      <p:sp>
        <p:nvSpPr>
          <p:cNvPr id="13" name="Text 11"/>
          <p:cNvSpPr/>
          <p:nvPr/>
        </p:nvSpPr>
        <p:spPr>
          <a:xfrm>
            <a:off x="438912" y="2395728"/>
            <a:ext cx="201168" cy="27432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4" name="Text 12"/>
          <p:cNvSpPr/>
          <p:nvPr/>
        </p:nvSpPr>
        <p:spPr>
          <a:xfrm>
            <a:off x="749808" y="2359152"/>
            <a:ext cx="3383280" cy="502920"/>
          </a:xfrm>
          <a:prstGeom prst="rect">
            <a:avLst/>
          </a:prstGeom>
          <a:noFill/>
          <a:ln/>
        </p:spPr>
        <p:txBody>
          <a:bodyPr wrap="square" lIns="0" tIns="0" rIns="0" bIns="0" rtlCol="0" anchor="ctr"/>
          <a:lstStyle/>
          <a:p>
            <a:pPr indent="0" marL="0">
              <a:buNone/>
            </a:pPr>
            <a:r>
              <a:rPr lang="en-US" sz="1000" dirty="0">
                <a:solidFill>
                  <a:srgbClr val="1C2B22"/>
                </a:solidFill>
              </a:rPr>
              <a:t>Lutter contre toutes les formes de discrimination</a:t>
            </a:r>
            <a:endParaRPr lang="en-US" sz="1000" dirty="0"/>
          </a:p>
        </p:txBody>
      </p:sp>
      <p:sp>
        <p:nvSpPr>
          <p:cNvPr id="15" name="Shape 13"/>
          <p:cNvSpPr/>
          <p:nvPr/>
        </p:nvSpPr>
        <p:spPr>
          <a:xfrm>
            <a:off x="438912" y="3008376"/>
            <a:ext cx="201168" cy="201168"/>
          </a:xfrm>
          <a:prstGeom prst="ellipse">
            <a:avLst/>
          </a:prstGeom>
          <a:solidFill>
            <a:srgbClr val="1A6E4A"/>
          </a:solidFill>
          <a:ln w="12700">
            <a:solidFill>
              <a:srgbClr val="1A6E4A"/>
            </a:solidFill>
            <a:prstDash val="solid"/>
          </a:ln>
        </p:spPr>
      </p:sp>
      <p:sp>
        <p:nvSpPr>
          <p:cNvPr id="16" name="Text 14"/>
          <p:cNvSpPr/>
          <p:nvPr/>
        </p:nvSpPr>
        <p:spPr>
          <a:xfrm>
            <a:off x="438912" y="2971800"/>
            <a:ext cx="201168" cy="27432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7" name="Text 15"/>
          <p:cNvSpPr/>
          <p:nvPr/>
        </p:nvSpPr>
        <p:spPr>
          <a:xfrm>
            <a:off x="749808" y="2935224"/>
            <a:ext cx="3383280" cy="502920"/>
          </a:xfrm>
          <a:prstGeom prst="rect">
            <a:avLst/>
          </a:prstGeom>
          <a:noFill/>
          <a:ln/>
        </p:spPr>
        <p:txBody>
          <a:bodyPr wrap="square" lIns="0" tIns="0" rIns="0" bIns="0" rtlCol="0" anchor="ctr"/>
          <a:lstStyle/>
          <a:p>
            <a:pPr indent="0" marL="0">
              <a:buNone/>
            </a:pPr>
            <a:r>
              <a:rPr lang="en-US" sz="1000" dirty="0">
                <a:solidFill>
                  <a:srgbClr val="1C2B22"/>
                </a:solidFill>
              </a:rPr>
              <a:t>Intégrer la qualité de vie au travail (QVT)</a:t>
            </a:r>
            <a:endParaRPr lang="en-US" sz="1000" dirty="0"/>
          </a:p>
        </p:txBody>
      </p:sp>
      <p:sp>
        <p:nvSpPr>
          <p:cNvPr id="18" name="Shape 16"/>
          <p:cNvSpPr/>
          <p:nvPr/>
        </p:nvSpPr>
        <p:spPr>
          <a:xfrm>
            <a:off x="438912" y="3584448"/>
            <a:ext cx="201168" cy="201168"/>
          </a:xfrm>
          <a:prstGeom prst="ellipse">
            <a:avLst/>
          </a:prstGeom>
          <a:solidFill>
            <a:srgbClr val="1A6E4A"/>
          </a:solidFill>
          <a:ln w="12700">
            <a:solidFill>
              <a:srgbClr val="1A6E4A"/>
            </a:solidFill>
            <a:prstDash val="solid"/>
          </a:ln>
        </p:spPr>
      </p:sp>
      <p:sp>
        <p:nvSpPr>
          <p:cNvPr id="19" name="Text 17"/>
          <p:cNvSpPr/>
          <p:nvPr/>
        </p:nvSpPr>
        <p:spPr>
          <a:xfrm>
            <a:off x="438912" y="3547872"/>
            <a:ext cx="201168" cy="27432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20" name="Text 18"/>
          <p:cNvSpPr/>
          <p:nvPr/>
        </p:nvSpPr>
        <p:spPr>
          <a:xfrm>
            <a:off x="749808" y="3511296"/>
            <a:ext cx="3383280" cy="502920"/>
          </a:xfrm>
          <a:prstGeom prst="rect">
            <a:avLst/>
          </a:prstGeom>
          <a:noFill/>
          <a:ln/>
        </p:spPr>
        <p:txBody>
          <a:bodyPr wrap="square" lIns="0" tIns="0" rIns="0" bIns="0" rtlCol="0" anchor="ctr"/>
          <a:lstStyle/>
          <a:p>
            <a:pPr indent="0" marL="0">
              <a:buNone/>
            </a:pPr>
            <a:r>
              <a:rPr lang="en-US" sz="1000" dirty="0">
                <a:solidFill>
                  <a:srgbClr val="1C2B22"/>
                </a:solidFill>
              </a:rPr>
              <a:t>Assurer la sécurité et la gestion des risques</a:t>
            </a:r>
            <a:endParaRPr lang="en-US" sz="1000" dirty="0"/>
          </a:p>
        </p:txBody>
      </p:sp>
      <p:sp>
        <p:nvSpPr>
          <p:cNvPr id="21" name="Shape 19"/>
          <p:cNvSpPr/>
          <p:nvPr/>
        </p:nvSpPr>
        <p:spPr>
          <a:xfrm>
            <a:off x="438912" y="4160520"/>
            <a:ext cx="201168" cy="201168"/>
          </a:xfrm>
          <a:prstGeom prst="ellipse">
            <a:avLst/>
          </a:prstGeom>
          <a:solidFill>
            <a:srgbClr val="2DC87A"/>
          </a:solidFill>
          <a:ln w="12700">
            <a:solidFill>
              <a:srgbClr val="2DC87A"/>
            </a:solidFill>
            <a:prstDash val="solid"/>
          </a:ln>
        </p:spPr>
      </p:sp>
      <p:sp>
        <p:nvSpPr>
          <p:cNvPr id="22" name="Text 20"/>
          <p:cNvSpPr/>
          <p:nvPr/>
        </p:nvSpPr>
        <p:spPr>
          <a:xfrm>
            <a:off x="438912" y="4123944"/>
            <a:ext cx="201168" cy="27432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23" name="Text 21"/>
          <p:cNvSpPr/>
          <p:nvPr/>
        </p:nvSpPr>
        <p:spPr>
          <a:xfrm>
            <a:off x="749808" y="4087368"/>
            <a:ext cx="3383280" cy="502920"/>
          </a:xfrm>
          <a:prstGeom prst="rect">
            <a:avLst/>
          </a:prstGeom>
          <a:noFill/>
          <a:ln/>
        </p:spPr>
        <p:txBody>
          <a:bodyPr wrap="square" lIns="0" tIns="0" rIns="0" bIns="0" rtlCol="0" anchor="ctr"/>
          <a:lstStyle/>
          <a:p>
            <a:pPr indent="0" marL="0">
              <a:buNone/>
            </a:pPr>
            <a:r>
              <a:rPr lang="en-US" sz="1000" dirty="0">
                <a:solidFill>
                  <a:srgbClr val="1C2B22"/>
                </a:solidFill>
              </a:rPr>
              <a:t>15 engagements formalisés sur 2 ans (en rédaction)</a:t>
            </a:r>
            <a:endParaRPr lang="en-US" sz="1000" dirty="0"/>
          </a:p>
        </p:txBody>
      </p:sp>
      <p:sp>
        <p:nvSpPr>
          <p:cNvPr id="24" name="Shape 22"/>
          <p:cNvSpPr/>
          <p:nvPr/>
        </p:nvSpPr>
        <p:spPr>
          <a:xfrm>
            <a:off x="4572000" y="1170432"/>
            <a:ext cx="4297680" cy="374904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572000" y="1170432"/>
            <a:ext cx="4297680" cy="438912"/>
          </a:xfrm>
          <a:prstGeom prst="rect">
            <a:avLst/>
          </a:prstGeom>
          <a:solidFill>
            <a:srgbClr val="1A6E4A"/>
          </a:solidFill>
          <a:ln w="12700">
            <a:solidFill>
              <a:srgbClr val="1A6E4A"/>
            </a:solidFill>
            <a:prstDash val="solid"/>
          </a:ln>
        </p:spPr>
      </p:sp>
      <p:sp>
        <p:nvSpPr>
          <p:cNvPr id="26" name="Text 24"/>
          <p:cNvSpPr/>
          <p:nvPr/>
        </p:nvSpPr>
        <p:spPr>
          <a:xfrm>
            <a:off x="4709160" y="1170432"/>
            <a:ext cx="4023360" cy="438912"/>
          </a:xfrm>
          <a:prstGeom prst="rect">
            <a:avLst/>
          </a:prstGeom>
          <a:noFill/>
          <a:ln/>
        </p:spPr>
        <p:txBody>
          <a:bodyPr wrap="square" lIns="0" tIns="0" rIns="0" bIns="0" rtlCol="0" anchor="ctr"/>
          <a:lstStyle/>
          <a:p>
            <a:pPr indent="0" marL="0">
              <a:buNone/>
            </a:pPr>
            <a:r>
              <a:rPr lang="en-US" sz="1200" b="1" dirty="0">
                <a:solidFill>
                  <a:srgbClr val="FFFFFF"/>
                </a:solidFill>
              </a:rPr>
              <a:t>✅  Réalisations 2024–2026</a:t>
            </a:r>
            <a:endParaRPr lang="en-US" sz="1200" dirty="0"/>
          </a:p>
        </p:txBody>
      </p:sp>
      <p:sp>
        <p:nvSpPr>
          <p:cNvPr id="27" name="Shape 25"/>
          <p:cNvSpPr/>
          <p:nvPr/>
        </p:nvSpPr>
        <p:spPr>
          <a:xfrm>
            <a:off x="4681728" y="1874520"/>
            <a:ext cx="182880" cy="182880"/>
          </a:xfrm>
          <a:prstGeom prst="rect">
            <a:avLst/>
          </a:prstGeom>
          <a:solidFill>
            <a:srgbClr val="1A6E4A"/>
          </a:solidFill>
          <a:ln w="12700">
            <a:solidFill>
              <a:srgbClr val="1A6E4A"/>
            </a:solidFill>
            <a:prstDash val="solid"/>
          </a:ln>
        </p:spPr>
      </p:sp>
      <p:sp>
        <p:nvSpPr>
          <p:cNvPr id="28" name="Text 26"/>
          <p:cNvSpPr/>
          <p:nvPr/>
        </p:nvSpPr>
        <p:spPr>
          <a:xfrm>
            <a:off x="4983480" y="1783080"/>
            <a:ext cx="3749040" cy="502920"/>
          </a:xfrm>
          <a:prstGeom prst="rect">
            <a:avLst/>
          </a:prstGeom>
          <a:noFill/>
          <a:ln/>
        </p:spPr>
        <p:txBody>
          <a:bodyPr wrap="square" lIns="0" tIns="0" rIns="0" bIns="0" rtlCol="0" anchor="ctr"/>
          <a:lstStyle/>
          <a:p>
            <a:pPr indent="0" marL="0">
              <a:buNone/>
            </a:pPr>
            <a:r>
              <a:rPr lang="en-US" sz="1000" dirty="0">
                <a:solidFill>
                  <a:srgbClr val="1C2B22"/>
                </a:solidFill>
              </a:rPr>
              <a:t>Label Numérique Responsable obtenu (mars 2026)</a:t>
            </a:r>
            <a:endParaRPr lang="en-US" sz="1000" dirty="0"/>
          </a:p>
        </p:txBody>
      </p:sp>
      <p:sp>
        <p:nvSpPr>
          <p:cNvPr id="29" name="Shape 27"/>
          <p:cNvSpPr/>
          <p:nvPr/>
        </p:nvSpPr>
        <p:spPr>
          <a:xfrm>
            <a:off x="4681728" y="2450592"/>
            <a:ext cx="182880" cy="182880"/>
          </a:xfrm>
          <a:prstGeom prst="rect">
            <a:avLst/>
          </a:prstGeom>
          <a:solidFill>
            <a:srgbClr val="1A6E4A"/>
          </a:solidFill>
          <a:ln w="12700">
            <a:solidFill>
              <a:srgbClr val="1A6E4A"/>
            </a:solidFill>
            <a:prstDash val="solid"/>
          </a:ln>
        </p:spPr>
      </p:sp>
      <p:sp>
        <p:nvSpPr>
          <p:cNvPr id="30" name="Text 28"/>
          <p:cNvSpPr/>
          <p:nvPr/>
        </p:nvSpPr>
        <p:spPr>
          <a:xfrm>
            <a:off x="4983480" y="2359152"/>
            <a:ext cx="3749040" cy="502920"/>
          </a:xfrm>
          <a:prstGeom prst="rect">
            <a:avLst/>
          </a:prstGeom>
          <a:noFill/>
          <a:ln/>
        </p:spPr>
        <p:txBody>
          <a:bodyPr wrap="square" lIns="0" tIns="0" rIns="0" bIns="0" rtlCol="0" anchor="ctr"/>
          <a:lstStyle/>
          <a:p>
            <a:pPr indent="0" marL="0">
              <a:buNone/>
            </a:pPr>
            <a:r>
              <a:rPr lang="en-US" sz="1000" dirty="0">
                <a:solidFill>
                  <a:srgbClr val="1C2B22"/>
                </a:solidFill>
              </a:rPr>
              <a:t>Marathon La Rochelle 2024 — 8 coureurs (QVT, cohésion)</a:t>
            </a:r>
            <a:endParaRPr lang="en-US" sz="1000" dirty="0"/>
          </a:p>
        </p:txBody>
      </p:sp>
      <p:sp>
        <p:nvSpPr>
          <p:cNvPr id="31" name="Shape 29"/>
          <p:cNvSpPr/>
          <p:nvPr/>
        </p:nvSpPr>
        <p:spPr>
          <a:xfrm>
            <a:off x="4681728" y="3026664"/>
            <a:ext cx="182880" cy="182880"/>
          </a:xfrm>
          <a:prstGeom prst="rect">
            <a:avLst/>
          </a:prstGeom>
          <a:solidFill>
            <a:srgbClr val="1A6E4A"/>
          </a:solidFill>
          <a:ln w="12700">
            <a:solidFill>
              <a:srgbClr val="1A6E4A"/>
            </a:solidFill>
            <a:prstDash val="solid"/>
          </a:ln>
        </p:spPr>
      </p:sp>
      <p:sp>
        <p:nvSpPr>
          <p:cNvPr id="32" name="Text 30"/>
          <p:cNvSpPr/>
          <p:nvPr/>
        </p:nvSpPr>
        <p:spPr>
          <a:xfrm>
            <a:off x="4983480" y="2935224"/>
            <a:ext cx="3749040" cy="502920"/>
          </a:xfrm>
          <a:prstGeom prst="rect">
            <a:avLst/>
          </a:prstGeom>
          <a:noFill/>
          <a:ln/>
        </p:spPr>
        <p:txBody>
          <a:bodyPr wrap="square" lIns="0" tIns="0" rIns="0" bIns="0" rtlCol="0" anchor="ctr"/>
          <a:lstStyle/>
          <a:p>
            <a:pPr indent="0" marL="0">
              <a:buNone/>
            </a:pPr>
            <a:r>
              <a:rPr lang="en-US" sz="1000" dirty="0">
                <a:solidFill>
                  <a:srgbClr val="1C2B22"/>
                </a:solidFill>
              </a:rPr>
              <a:t>Team Building 2024 à Sauternes (cohésion équipe)</a:t>
            </a:r>
            <a:endParaRPr lang="en-US" sz="1000" dirty="0"/>
          </a:p>
        </p:txBody>
      </p:sp>
      <p:sp>
        <p:nvSpPr>
          <p:cNvPr id="33" name="Shape 31"/>
          <p:cNvSpPr/>
          <p:nvPr/>
        </p:nvSpPr>
        <p:spPr>
          <a:xfrm>
            <a:off x="4681728" y="3602736"/>
            <a:ext cx="182880" cy="182880"/>
          </a:xfrm>
          <a:prstGeom prst="rect">
            <a:avLst/>
          </a:prstGeom>
          <a:solidFill>
            <a:srgbClr val="2DC87A"/>
          </a:solidFill>
          <a:ln w="12700">
            <a:solidFill>
              <a:srgbClr val="2DC87A"/>
            </a:solidFill>
            <a:prstDash val="solid"/>
          </a:ln>
        </p:spPr>
      </p:sp>
      <p:sp>
        <p:nvSpPr>
          <p:cNvPr id="34" name="Text 32"/>
          <p:cNvSpPr/>
          <p:nvPr/>
        </p:nvSpPr>
        <p:spPr>
          <a:xfrm>
            <a:off x="4983480" y="3511296"/>
            <a:ext cx="3749040" cy="502920"/>
          </a:xfrm>
          <a:prstGeom prst="rect">
            <a:avLst/>
          </a:prstGeom>
          <a:noFill/>
          <a:ln/>
        </p:spPr>
        <p:txBody>
          <a:bodyPr wrap="square" lIns="0" tIns="0" rIns="0" bIns="0" rtlCol="0" anchor="ctr"/>
          <a:lstStyle/>
          <a:p>
            <a:pPr indent="0" marL="0">
              <a:buNone/>
            </a:pPr>
            <a:r>
              <a:rPr lang="en-US" sz="1000" dirty="0">
                <a:solidFill>
                  <a:srgbClr val="1C2B22"/>
                </a:solidFill>
              </a:rPr>
              <a:t>Rédaction des 15 engagements RSE formels (en cours)</a:t>
            </a:r>
            <a:endParaRPr lang="en-US" sz="1000" dirty="0"/>
          </a:p>
        </p:txBody>
      </p:sp>
      <p:sp>
        <p:nvSpPr>
          <p:cNvPr id="35" name="Shape 33"/>
          <p:cNvSpPr/>
          <p:nvPr/>
        </p:nvSpPr>
        <p:spPr>
          <a:xfrm>
            <a:off x="4681728" y="4178808"/>
            <a:ext cx="182880" cy="182880"/>
          </a:xfrm>
          <a:prstGeom prst="rect">
            <a:avLst/>
          </a:prstGeom>
          <a:solidFill>
            <a:srgbClr val="1A6E4A"/>
          </a:solidFill>
          <a:ln w="12700">
            <a:solidFill>
              <a:srgbClr val="1A6E4A"/>
            </a:solidFill>
            <a:prstDash val="solid"/>
          </a:ln>
        </p:spPr>
      </p:sp>
      <p:sp>
        <p:nvSpPr>
          <p:cNvPr id="36" name="Text 34"/>
          <p:cNvSpPr/>
          <p:nvPr/>
        </p:nvSpPr>
        <p:spPr>
          <a:xfrm>
            <a:off x="4983480" y="4087368"/>
            <a:ext cx="3749040" cy="502920"/>
          </a:xfrm>
          <a:prstGeom prst="rect">
            <a:avLst/>
          </a:prstGeom>
          <a:noFill/>
          <a:ln/>
        </p:spPr>
        <p:txBody>
          <a:bodyPr wrap="square" lIns="0" tIns="0" rIns="0" bIns="0" rtlCol="0" anchor="ctr"/>
          <a:lstStyle/>
          <a:p>
            <a:pPr indent="0" marL="0">
              <a:buNone/>
            </a:pPr>
            <a:r>
              <a:rPr lang="en-US" sz="1000" dirty="0">
                <a:solidFill>
                  <a:srgbClr val="1C2B22"/>
                </a:solidFill>
              </a:rPr>
              <a:t>Transformation digitale responsable des clients PME</a:t>
            </a:r>
            <a:endParaRPr lang="en-US" sz="1000" dirty="0"/>
          </a:p>
        </p:txBody>
      </p:sp>
      <p:sp>
        <p:nvSpPr>
          <p:cNvPr id="37" name="Text 35"/>
          <p:cNvSpPr/>
          <p:nvPr/>
        </p:nvSpPr>
        <p:spPr>
          <a:xfrm>
            <a:off x="274320" y="4800600"/>
            <a:ext cx="8595360" cy="256032"/>
          </a:xfrm>
          <a:prstGeom prst="rect">
            <a:avLst/>
          </a:prstGeom>
          <a:noFill/>
          <a:ln/>
        </p:spPr>
        <p:txBody>
          <a:bodyPr wrap="square" lIns="0" tIns="0" rIns="0" bIns="0" rtlCol="0" anchor="ctr"/>
          <a:lstStyle/>
          <a:p>
            <a:pPr algn="ctr" indent="0" marL="0">
              <a:buNone/>
            </a:pPr>
            <a:r>
              <a:rPr lang="en-US" sz="850" i="1" dirty="0">
                <a:solidFill>
                  <a:srgbClr val="1A6E4A"/>
                </a:solidFill>
              </a:rPr>
              <a:t>⚡ Entreprise en structuration active de sa démarche RSE — le Label NR marque un tournant fort en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4F8A"/>
          </a:solidFill>
          <a:ln w="12700">
            <a:solidFill>
              <a:srgbClr val="0B4F8A"/>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64008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02 — Groupe Bénéteau</a:t>
            </a:r>
            <a:endParaRPr lang="en-US" sz="2600" dirty="0"/>
          </a:p>
        </p:txBody>
      </p:sp>
      <p:sp>
        <p:nvSpPr>
          <p:cNvPr id="5" name="Text 3"/>
          <p:cNvSpPr/>
          <p:nvPr/>
        </p:nvSpPr>
        <p:spPr>
          <a:xfrm>
            <a:off x="6400800" y="0"/>
            <a:ext cx="2286000" cy="960120"/>
          </a:xfrm>
          <a:prstGeom prst="rect">
            <a:avLst/>
          </a:prstGeom>
          <a:noFill/>
          <a:ln/>
        </p:spPr>
        <p:txBody>
          <a:bodyPr wrap="square" lIns="0" tIns="0" rIns="0" bIns="0" rtlCol="0" anchor="ctr"/>
          <a:lstStyle/>
          <a:p>
            <a:pPr algn="r" indent="0" marL="0">
              <a:buNone/>
            </a:pPr>
            <a:r>
              <a:rPr lang="en-US" sz="900" b="1" spc="300" kern="0" dirty="0">
                <a:solidFill>
                  <a:srgbClr val="B8D4F0"/>
                </a:solidFill>
              </a:rPr>
              <a:t>PRÉSENTATION DE L'ENTREPRISE</a:t>
            </a:r>
            <a:endParaRPr lang="en-US" sz="900" dirty="0"/>
          </a:p>
        </p:txBody>
      </p:sp>
      <p:sp>
        <p:nvSpPr>
          <p:cNvPr id="6" name="Shape 4"/>
          <p:cNvSpPr/>
          <p:nvPr/>
        </p:nvSpPr>
        <p:spPr>
          <a:xfrm>
            <a:off x="320040" y="1170432"/>
            <a:ext cx="5486400" cy="233172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1170432"/>
            <a:ext cx="109728" cy="2331720"/>
          </a:xfrm>
          <a:prstGeom prst="rect">
            <a:avLst/>
          </a:prstGeom>
          <a:solidFill>
            <a:srgbClr val="0B4F8A"/>
          </a:solidFill>
          <a:ln w="12700">
            <a:solidFill>
              <a:srgbClr val="0B4F8A"/>
            </a:solidFill>
            <a:prstDash val="solid"/>
          </a:ln>
        </p:spPr>
      </p:sp>
      <p:sp>
        <p:nvSpPr>
          <p:cNvPr id="8" name="Text 6"/>
          <p:cNvSpPr/>
          <p:nvPr/>
        </p:nvSpPr>
        <p:spPr>
          <a:xfrm>
            <a:off x="548640" y="1325880"/>
            <a:ext cx="5029200" cy="365760"/>
          </a:xfrm>
          <a:prstGeom prst="rect">
            <a:avLst/>
          </a:prstGeom>
          <a:noFill/>
          <a:ln/>
        </p:spPr>
        <p:txBody>
          <a:bodyPr wrap="square" lIns="0" tIns="0" rIns="0" bIns="0" rtlCol="0" anchor="ctr"/>
          <a:lstStyle/>
          <a:p>
            <a:pPr indent="0" marL="0">
              <a:buNone/>
            </a:pPr>
            <a:r>
              <a:rPr lang="en-US" sz="1400" b="1" dirty="0">
                <a:solidFill>
                  <a:srgbClr val="0B4F8A"/>
                </a:solidFill>
                <a:latin typeface="Georgia" pitchFamily="34" charset="0"/>
                <a:ea typeface="Georgia" pitchFamily="34" charset="-122"/>
                <a:cs typeface="Georgia" pitchFamily="34" charset="-120"/>
              </a:rPr>
              <a:t>Constructeur naval mondial</a:t>
            </a:r>
            <a:endParaRPr lang="en-US" sz="1400" dirty="0"/>
          </a:p>
        </p:txBody>
      </p:sp>
      <p:sp>
        <p:nvSpPr>
          <p:cNvPr id="9" name="Text 7"/>
          <p:cNvSpPr/>
          <p:nvPr/>
        </p:nvSpPr>
        <p:spPr>
          <a:xfrm>
            <a:off x="548640" y="1737360"/>
            <a:ext cx="5029200" cy="1554480"/>
          </a:xfrm>
          <a:prstGeom prst="rect">
            <a:avLst/>
          </a:prstGeom>
          <a:noFill/>
          <a:ln/>
        </p:spPr>
        <p:txBody>
          <a:bodyPr wrap="square" lIns="0" tIns="0" rIns="0" bIns="0" rtlCol="0" anchor="ctr"/>
          <a:lstStyle/>
          <a:p>
            <a:pPr indent="0" marL="0">
              <a:buNone/>
            </a:pPr>
            <a:r>
              <a:rPr lang="en-US" sz="1050" dirty="0">
                <a:solidFill>
                  <a:srgbClr val="1C2B22"/>
                </a:solidFill>
              </a:rPr>
              <a:t>Fondé en 1884, le Groupe Bénéteau est leader mondial de la construction de bateaux de plaisance et de l'habitat de loisirs.</a:t>
            </a:r>
            <a:endParaRPr lang="en-US" sz="1050" dirty="0"/>
          </a:p>
          <a:p>
            <a:pPr indent="0" marL="0">
              <a:buNone/>
            </a:pPr>
            <a:r>
              <a:rPr lang="en-US" sz="400" dirty="0">
                <a:solidFill>
                  <a:srgbClr val="1C2B22"/>
                </a:solidFill>
              </a:rPr>
              <a:t> </a:t>
            </a:r>
            <a:endParaRPr lang="en-US" sz="1050" dirty="0"/>
          </a:p>
          <a:p>
            <a:pPr indent="0" marL="0">
              <a:buNone/>
            </a:pPr>
            <a:r>
              <a:rPr lang="en-US" sz="1050" dirty="0">
                <a:solidFill>
                  <a:srgbClr val="1C2B22"/>
                </a:solidFill>
              </a:rPr>
              <a:t>Il opère à travers plusieurs marques de renommée mondiale : Bénéteau, Jeanneau, Lagoon, CNB, Prestige, Four Winns, Glastron, Wellcraft.</a:t>
            </a:r>
            <a:endParaRPr lang="en-US" sz="1050" dirty="0"/>
          </a:p>
        </p:txBody>
      </p:sp>
      <p:sp>
        <p:nvSpPr>
          <p:cNvPr id="10" name="Shape 8"/>
          <p:cNvSpPr/>
          <p:nvPr/>
        </p:nvSpPr>
        <p:spPr>
          <a:xfrm>
            <a:off x="320040" y="3657600"/>
            <a:ext cx="1691640" cy="13258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20040" y="3657600"/>
            <a:ext cx="1691640" cy="73152"/>
          </a:xfrm>
          <a:prstGeom prst="rect">
            <a:avLst/>
          </a:prstGeom>
          <a:solidFill>
            <a:srgbClr val="0B4F8A"/>
          </a:solidFill>
          <a:ln w="12700">
            <a:solidFill>
              <a:srgbClr val="0B4F8A"/>
            </a:solidFill>
            <a:prstDash val="solid"/>
          </a:ln>
        </p:spPr>
      </p:sp>
      <p:sp>
        <p:nvSpPr>
          <p:cNvPr id="12" name="Text 10"/>
          <p:cNvSpPr/>
          <p:nvPr/>
        </p:nvSpPr>
        <p:spPr>
          <a:xfrm>
            <a:off x="320040" y="3840480"/>
            <a:ext cx="1691640" cy="640080"/>
          </a:xfrm>
          <a:prstGeom prst="rect">
            <a:avLst/>
          </a:prstGeom>
          <a:noFill/>
          <a:ln/>
        </p:spPr>
        <p:txBody>
          <a:bodyPr wrap="square" lIns="0" tIns="0" rIns="0" bIns="0" rtlCol="0" anchor="ctr"/>
          <a:lstStyle/>
          <a:p>
            <a:pPr algn="ctr" indent="0" marL="0">
              <a:buNone/>
            </a:pPr>
            <a:r>
              <a:rPr lang="en-US" sz="2600" b="1" dirty="0">
                <a:solidFill>
                  <a:srgbClr val="0B4F8A"/>
                </a:solidFill>
                <a:latin typeface="Georgia" pitchFamily="34" charset="0"/>
                <a:ea typeface="Georgia" pitchFamily="34" charset="-122"/>
                <a:cs typeface="Georgia" pitchFamily="34" charset="-120"/>
              </a:rPr>
              <a:t>1884</a:t>
            </a:r>
            <a:endParaRPr lang="en-US" sz="2600" dirty="0"/>
          </a:p>
        </p:txBody>
      </p:sp>
      <p:sp>
        <p:nvSpPr>
          <p:cNvPr id="13" name="Text 11"/>
          <p:cNvSpPr/>
          <p:nvPr/>
        </p:nvSpPr>
        <p:spPr>
          <a:xfrm>
            <a:off x="320040" y="4462272"/>
            <a:ext cx="1691640" cy="411480"/>
          </a:xfrm>
          <a:prstGeom prst="rect">
            <a:avLst/>
          </a:prstGeom>
          <a:noFill/>
          <a:ln/>
        </p:spPr>
        <p:txBody>
          <a:bodyPr wrap="square" lIns="0" tIns="0" rIns="0" bIns="0" rtlCol="0" anchor="ctr"/>
          <a:lstStyle/>
          <a:p>
            <a:pPr algn="ctr" indent="0" marL="0">
              <a:buNone/>
            </a:pPr>
            <a:r>
              <a:rPr lang="en-US" sz="950" dirty="0">
                <a:solidFill>
                  <a:srgbClr val="4A5E54"/>
                </a:solidFill>
              </a:rPr>
              <a:t>Fondation</a:t>
            </a:r>
            <a:endParaRPr lang="en-US" sz="950" dirty="0"/>
          </a:p>
        </p:txBody>
      </p:sp>
      <p:sp>
        <p:nvSpPr>
          <p:cNvPr id="14" name="Shape 12"/>
          <p:cNvSpPr/>
          <p:nvPr/>
        </p:nvSpPr>
        <p:spPr>
          <a:xfrm>
            <a:off x="2194560" y="3657600"/>
            <a:ext cx="1691640" cy="13258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2194560" y="3657600"/>
            <a:ext cx="1691640" cy="73152"/>
          </a:xfrm>
          <a:prstGeom prst="rect">
            <a:avLst/>
          </a:prstGeom>
          <a:solidFill>
            <a:srgbClr val="1A6E4A"/>
          </a:solidFill>
          <a:ln w="12700">
            <a:solidFill>
              <a:srgbClr val="1A6E4A"/>
            </a:solidFill>
            <a:prstDash val="solid"/>
          </a:ln>
        </p:spPr>
      </p:sp>
      <p:sp>
        <p:nvSpPr>
          <p:cNvPr id="16" name="Text 14"/>
          <p:cNvSpPr/>
          <p:nvPr/>
        </p:nvSpPr>
        <p:spPr>
          <a:xfrm>
            <a:off x="2194560" y="3840480"/>
            <a:ext cx="1691640" cy="640080"/>
          </a:xfrm>
          <a:prstGeom prst="rect">
            <a:avLst/>
          </a:prstGeom>
          <a:noFill/>
          <a:ln/>
        </p:spPr>
        <p:txBody>
          <a:bodyPr wrap="square" lIns="0" tIns="0" rIns="0" bIns="0" rtlCol="0" anchor="ctr"/>
          <a:lstStyle/>
          <a:p>
            <a:pPr algn="ctr" indent="0" marL="0">
              <a:buNone/>
            </a:pPr>
            <a:r>
              <a:rPr lang="en-US" sz="2600" b="1" dirty="0">
                <a:solidFill>
                  <a:srgbClr val="1A6E4A"/>
                </a:solidFill>
                <a:latin typeface="Georgia" pitchFamily="34" charset="0"/>
                <a:ea typeface="Georgia" pitchFamily="34" charset="-122"/>
                <a:cs typeface="Georgia" pitchFamily="34" charset="-120"/>
              </a:rPr>
              <a:t>~7 000</a:t>
            </a:r>
            <a:endParaRPr lang="en-US" sz="2600" dirty="0"/>
          </a:p>
        </p:txBody>
      </p:sp>
      <p:sp>
        <p:nvSpPr>
          <p:cNvPr id="17" name="Text 15"/>
          <p:cNvSpPr/>
          <p:nvPr/>
        </p:nvSpPr>
        <p:spPr>
          <a:xfrm>
            <a:off x="2194560" y="4462272"/>
            <a:ext cx="1691640" cy="411480"/>
          </a:xfrm>
          <a:prstGeom prst="rect">
            <a:avLst/>
          </a:prstGeom>
          <a:noFill/>
          <a:ln/>
        </p:spPr>
        <p:txBody>
          <a:bodyPr wrap="square" lIns="0" tIns="0" rIns="0" bIns="0" rtlCol="0" anchor="ctr"/>
          <a:lstStyle/>
          <a:p>
            <a:pPr algn="ctr" indent="0" marL="0">
              <a:buNone/>
            </a:pPr>
            <a:r>
              <a:rPr lang="en-US" sz="950" dirty="0">
                <a:solidFill>
                  <a:srgbClr val="4A5E54"/>
                </a:solidFill>
              </a:rPr>
              <a:t>Collaborateurs</a:t>
            </a:r>
            <a:endParaRPr lang="en-US" sz="950" dirty="0"/>
          </a:p>
        </p:txBody>
      </p:sp>
      <p:sp>
        <p:nvSpPr>
          <p:cNvPr id="18" name="Shape 16"/>
          <p:cNvSpPr/>
          <p:nvPr/>
        </p:nvSpPr>
        <p:spPr>
          <a:xfrm>
            <a:off x="4069080" y="3657600"/>
            <a:ext cx="1691640" cy="1325880"/>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4069080" y="3657600"/>
            <a:ext cx="1691640" cy="73152"/>
          </a:xfrm>
          <a:prstGeom prst="rect">
            <a:avLst/>
          </a:prstGeom>
          <a:solidFill>
            <a:srgbClr val="0B4F8A"/>
          </a:solidFill>
          <a:ln w="12700">
            <a:solidFill>
              <a:srgbClr val="0B4F8A"/>
            </a:solidFill>
            <a:prstDash val="solid"/>
          </a:ln>
        </p:spPr>
      </p:sp>
      <p:sp>
        <p:nvSpPr>
          <p:cNvPr id="20" name="Text 18"/>
          <p:cNvSpPr/>
          <p:nvPr/>
        </p:nvSpPr>
        <p:spPr>
          <a:xfrm>
            <a:off x="4069080" y="3840480"/>
            <a:ext cx="1691640" cy="640080"/>
          </a:xfrm>
          <a:prstGeom prst="rect">
            <a:avLst/>
          </a:prstGeom>
          <a:noFill/>
          <a:ln/>
        </p:spPr>
        <p:txBody>
          <a:bodyPr wrap="square" lIns="0" tIns="0" rIns="0" bIns="0" rtlCol="0" anchor="ctr"/>
          <a:lstStyle/>
          <a:p>
            <a:pPr algn="ctr" indent="0" marL="0">
              <a:buNone/>
            </a:pPr>
            <a:r>
              <a:rPr lang="en-US" sz="2600" b="1" dirty="0">
                <a:solidFill>
                  <a:srgbClr val="0B4F8A"/>
                </a:solidFill>
                <a:latin typeface="Georgia" pitchFamily="34" charset="0"/>
                <a:ea typeface="Georgia" pitchFamily="34" charset="-122"/>
                <a:cs typeface="Georgia" pitchFamily="34" charset="-120"/>
              </a:rPr>
              <a:t>45+</a:t>
            </a:r>
            <a:endParaRPr lang="en-US" sz="2600" dirty="0"/>
          </a:p>
        </p:txBody>
      </p:sp>
      <p:sp>
        <p:nvSpPr>
          <p:cNvPr id="21" name="Text 19"/>
          <p:cNvSpPr/>
          <p:nvPr/>
        </p:nvSpPr>
        <p:spPr>
          <a:xfrm>
            <a:off x="4069080" y="4462272"/>
            <a:ext cx="1691640" cy="411480"/>
          </a:xfrm>
          <a:prstGeom prst="rect">
            <a:avLst/>
          </a:prstGeom>
          <a:noFill/>
          <a:ln/>
        </p:spPr>
        <p:txBody>
          <a:bodyPr wrap="square" lIns="0" tIns="0" rIns="0" bIns="0" rtlCol="0" anchor="ctr"/>
          <a:lstStyle/>
          <a:p>
            <a:pPr algn="ctr" indent="0" marL="0">
              <a:buNone/>
            </a:pPr>
            <a:r>
              <a:rPr lang="en-US" sz="950" dirty="0">
                <a:solidFill>
                  <a:srgbClr val="4A5E54"/>
                </a:solidFill>
              </a:rPr>
              <a:t>Pays vendeurs</a:t>
            </a:r>
            <a:endParaRPr lang="en-US" sz="950" dirty="0"/>
          </a:p>
        </p:txBody>
      </p:sp>
      <p:sp>
        <p:nvSpPr>
          <p:cNvPr id="22" name="Shape 20"/>
          <p:cNvSpPr/>
          <p:nvPr/>
        </p:nvSpPr>
        <p:spPr>
          <a:xfrm>
            <a:off x="5989320" y="1170432"/>
            <a:ext cx="2834640" cy="3813048"/>
          </a:xfrm>
          <a:prstGeom prst="rect">
            <a:avLst/>
          </a:prstGeom>
          <a:solidFill>
            <a:srgbClr val="0B4F8A">
              <a:alpha val="8000"/>
            </a:srgbClr>
          </a:solidFill>
          <a:ln w="12700">
            <a:solidFill>
              <a:srgbClr val="0B4F8A"/>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5989320" y="1170432"/>
            <a:ext cx="2834640" cy="438912"/>
          </a:xfrm>
          <a:prstGeom prst="rect">
            <a:avLst/>
          </a:prstGeom>
          <a:solidFill>
            <a:srgbClr val="0B4F8A"/>
          </a:solidFill>
          <a:ln w="12700">
            <a:solidFill>
              <a:srgbClr val="0B4F8A"/>
            </a:solidFill>
            <a:prstDash val="solid"/>
          </a:ln>
        </p:spPr>
      </p:sp>
      <p:sp>
        <p:nvSpPr>
          <p:cNvPr id="24" name="Text 22"/>
          <p:cNvSpPr/>
          <p:nvPr/>
        </p:nvSpPr>
        <p:spPr>
          <a:xfrm>
            <a:off x="6080760" y="1170432"/>
            <a:ext cx="2651760" cy="438912"/>
          </a:xfrm>
          <a:prstGeom prst="rect">
            <a:avLst/>
          </a:prstGeom>
          <a:noFill/>
          <a:ln/>
        </p:spPr>
        <p:txBody>
          <a:bodyPr wrap="square" lIns="0" tIns="0" rIns="0" bIns="0" rtlCol="0" anchor="ctr"/>
          <a:lstStyle/>
          <a:p>
            <a:pPr indent="0" marL="0">
              <a:buNone/>
            </a:pPr>
            <a:r>
              <a:rPr lang="en-US" sz="1100" b="1" dirty="0">
                <a:solidFill>
                  <a:srgbClr val="FFFFFF"/>
                </a:solidFill>
              </a:rPr>
              <a:t>⛵  Marques du groupe</a:t>
            </a:r>
            <a:endParaRPr lang="en-US" sz="1100" dirty="0"/>
          </a:p>
        </p:txBody>
      </p:sp>
      <p:sp>
        <p:nvSpPr>
          <p:cNvPr id="25" name="Text 23"/>
          <p:cNvSpPr/>
          <p:nvPr/>
        </p:nvSpPr>
        <p:spPr>
          <a:xfrm>
            <a:off x="6126480" y="178308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Bénéteau</a:t>
            </a:r>
            <a:endParaRPr lang="en-US" sz="1050" dirty="0"/>
          </a:p>
        </p:txBody>
      </p:sp>
      <p:sp>
        <p:nvSpPr>
          <p:cNvPr id="26" name="Text 24"/>
          <p:cNvSpPr/>
          <p:nvPr/>
        </p:nvSpPr>
        <p:spPr>
          <a:xfrm>
            <a:off x="6126480" y="214884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Jeanneau</a:t>
            </a:r>
            <a:endParaRPr lang="en-US" sz="1050" dirty="0"/>
          </a:p>
        </p:txBody>
      </p:sp>
      <p:sp>
        <p:nvSpPr>
          <p:cNvPr id="27" name="Text 25"/>
          <p:cNvSpPr/>
          <p:nvPr/>
        </p:nvSpPr>
        <p:spPr>
          <a:xfrm>
            <a:off x="6126480" y="251460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Lagoon</a:t>
            </a:r>
            <a:endParaRPr lang="en-US" sz="1050" dirty="0"/>
          </a:p>
        </p:txBody>
      </p:sp>
      <p:sp>
        <p:nvSpPr>
          <p:cNvPr id="28" name="Text 26"/>
          <p:cNvSpPr/>
          <p:nvPr/>
        </p:nvSpPr>
        <p:spPr>
          <a:xfrm>
            <a:off x="6126480" y="288036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CNB</a:t>
            </a:r>
            <a:endParaRPr lang="en-US" sz="1050" dirty="0"/>
          </a:p>
        </p:txBody>
      </p:sp>
      <p:sp>
        <p:nvSpPr>
          <p:cNvPr id="29" name="Text 27"/>
          <p:cNvSpPr/>
          <p:nvPr/>
        </p:nvSpPr>
        <p:spPr>
          <a:xfrm>
            <a:off x="6126480" y="324612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Prestige</a:t>
            </a:r>
            <a:endParaRPr lang="en-US" sz="1050" dirty="0"/>
          </a:p>
        </p:txBody>
      </p:sp>
      <p:sp>
        <p:nvSpPr>
          <p:cNvPr id="30" name="Text 28"/>
          <p:cNvSpPr/>
          <p:nvPr/>
        </p:nvSpPr>
        <p:spPr>
          <a:xfrm>
            <a:off x="6126480" y="361188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Four Winns</a:t>
            </a:r>
            <a:endParaRPr lang="en-US" sz="1050" dirty="0"/>
          </a:p>
        </p:txBody>
      </p:sp>
      <p:sp>
        <p:nvSpPr>
          <p:cNvPr id="31" name="Text 29"/>
          <p:cNvSpPr/>
          <p:nvPr/>
        </p:nvSpPr>
        <p:spPr>
          <a:xfrm>
            <a:off x="6126480" y="397764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Glastron</a:t>
            </a:r>
            <a:endParaRPr lang="en-US" sz="1050" dirty="0"/>
          </a:p>
        </p:txBody>
      </p:sp>
      <p:sp>
        <p:nvSpPr>
          <p:cNvPr id="32" name="Text 30"/>
          <p:cNvSpPr/>
          <p:nvPr/>
        </p:nvSpPr>
        <p:spPr>
          <a:xfrm>
            <a:off x="6126480" y="4343400"/>
            <a:ext cx="2560320" cy="347472"/>
          </a:xfrm>
          <a:prstGeom prst="rect">
            <a:avLst/>
          </a:prstGeom>
          <a:noFill/>
          <a:ln/>
        </p:spPr>
        <p:txBody>
          <a:bodyPr wrap="square" lIns="0" tIns="0" rIns="0" bIns="0" rtlCol="0" anchor="ctr"/>
          <a:lstStyle/>
          <a:p>
            <a:pPr indent="0" marL="0">
              <a:buNone/>
            </a:pPr>
            <a:r>
              <a:rPr lang="en-US" sz="1050" dirty="0">
                <a:solidFill>
                  <a:srgbClr val="0B4F8A"/>
                </a:solidFill>
              </a:rPr>
              <a:t>· Wellcraft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4F8A"/>
          </a:solidFill>
          <a:ln w="12700">
            <a:solidFill>
              <a:srgbClr val="0B4F8A"/>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64008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02 — Groupe Bénéteau</a:t>
            </a:r>
            <a:endParaRPr lang="en-US" sz="2600" dirty="0"/>
          </a:p>
        </p:txBody>
      </p:sp>
      <p:sp>
        <p:nvSpPr>
          <p:cNvPr id="5" name="Text 3"/>
          <p:cNvSpPr/>
          <p:nvPr/>
        </p:nvSpPr>
        <p:spPr>
          <a:xfrm>
            <a:off x="6400800" y="0"/>
            <a:ext cx="2286000" cy="960120"/>
          </a:xfrm>
          <a:prstGeom prst="rect">
            <a:avLst/>
          </a:prstGeom>
          <a:noFill/>
          <a:ln/>
        </p:spPr>
        <p:txBody>
          <a:bodyPr wrap="square" lIns="0" tIns="0" rIns="0" bIns="0" rtlCol="0" anchor="ctr"/>
          <a:lstStyle/>
          <a:p>
            <a:pPr algn="r" indent="0" marL="0">
              <a:buNone/>
            </a:pPr>
            <a:r>
              <a:rPr lang="en-US" sz="900" b="1" spc="300" kern="0" dirty="0">
                <a:solidFill>
                  <a:srgbClr val="B8D4F0"/>
                </a:solidFill>
              </a:rPr>
              <a:t>ACTIONS RSE 2024 – 2025</a:t>
            </a:r>
            <a:endParaRPr lang="en-US" sz="900" dirty="0"/>
          </a:p>
        </p:txBody>
      </p:sp>
      <p:sp>
        <p:nvSpPr>
          <p:cNvPr id="6" name="Shape 4"/>
          <p:cNvSpPr/>
          <p:nvPr/>
        </p:nvSpPr>
        <p:spPr>
          <a:xfrm>
            <a:off x="256032" y="1170432"/>
            <a:ext cx="1993392" cy="148132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56032" y="1170432"/>
            <a:ext cx="1993392" cy="82296"/>
          </a:xfrm>
          <a:prstGeom prst="rect">
            <a:avLst/>
          </a:prstGeom>
          <a:solidFill>
            <a:srgbClr val="1A6E4A"/>
          </a:solidFill>
          <a:ln w="12700">
            <a:solidFill>
              <a:srgbClr val="1A6E4A"/>
            </a:solidFill>
            <a:prstDash val="solid"/>
          </a:ln>
        </p:spPr>
      </p:sp>
      <p:sp>
        <p:nvSpPr>
          <p:cNvPr id="8" name="Text 6"/>
          <p:cNvSpPr/>
          <p:nvPr/>
        </p:nvSpPr>
        <p:spPr>
          <a:xfrm>
            <a:off x="256032" y="1335024"/>
            <a:ext cx="1993392" cy="685800"/>
          </a:xfrm>
          <a:prstGeom prst="rect">
            <a:avLst/>
          </a:prstGeom>
          <a:noFill/>
          <a:ln/>
        </p:spPr>
        <p:txBody>
          <a:bodyPr wrap="square" lIns="0" tIns="0" rIns="0" bIns="0" rtlCol="0" anchor="ctr"/>
          <a:lstStyle/>
          <a:p>
            <a:pPr algn="ctr" indent="0" marL="0">
              <a:buNone/>
            </a:pPr>
            <a:r>
              <a:rPr lang="en-US" sz="3000" b="1" dirty="0">
                <a:solidFill>
                  <a:srgbClr val="1A6E4A"/>
                </a:solidFill>
                <a:latin typeface="Georgia" pitchFamily="34" charset="0"/>
                <a:ea typeface="Georgia" pitchFamily="34" charset="-122"/>
                <a:cs typeface="Georgia" pitchFamily="34" charset="-120"/>
              </a:rPr>
              <a:t>-30%</a:t>
            </a:r>
            <a:endParaRPr lang="en-US" sz="3000" dirty="0"/>
          </a:p>
        </p:txBody>
      </p:sp>
      <p:sp>
        <p:nvSpPr>
          <p:cNvPr id="9" name="Text 7"/>
          <p:cNvSpPr/>
          <p:nvPr/>
        </p:nvSpPr>
        <p:spPr>
          <a:xfrm>
            <a:off x="256032" y="2039112"/>
            <a:ext cx="1993392" cy="530352"/>
          </a:xfrm>
          <a:prstGeom prst="rect">
            <a:avLst/>
          </a:prstGeom>
          <a:noFill/>
          <a:ln/>
        </p:spPr>
        <p:txBody>
          <a:bodyPr wrap="square" lIns="0" tIns="0" rIns="0" bIns="0" rtlCol="0" anchor="ctr"/>
          <a:lstStyle/>
          <a:p>
            <a:pPr algn="ctr" indent="0" marL="0">
              <a:buNone/>
            </a:pPr>
            <a:r>
              <a:rPr lang="en-US" sz="850" dirty="0">
                <a:solidFill>
                  <a:srgbClr val="4A5E54"/>
                </a:solidFill>
              </a:rPr>
              <a:t>Réduction intensité CO₂</a:t>
            </a:r>
            <a:endParaRPr lang="en-US" sz="850" dirty="0"/>
          </a:p>
          <a:p>
            <a:pPr algn="ctr" indent="0" marL="0">
              <a:buNone/>
            </a:pPr>
            <a:r>
              <a:rPr lang="en-US" sz="850" dirty="0">
                <a:solidFill>
                  <a:srgbClr val="4A5E54"/>
                </a:solidFill>
              </a:rPr>
              <a:t>2022 → 2024</a:t>
            </a:r>
            <a:endParaRPr lang="en-US" sz="850" dirty="0"/>
          </a:p>
        </p:txBody>
      </p:sp>
      <p:sp>
        <p:nvSpPr>
          <p:cNvPr id="10" name="Shape 8"/>
          <p:cNvSpPr/>
          <p:nvPr/>
        </p:nvSpPr>
        <p:spPr>
          <a:xfrm>
            <a:off x="2423160" y="1170432"/>
            <a:ext cx="1993392" cy="148132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2423160" y="1170432"/>
            <a:ext cx="1993392" cy="82296"/>
          </a:xfrm>
          <a:prstGeom prst="rect">
            <a:avLst/>
          </a:prstGeom>
          <a:solidFill>
            <a:srgbClr val="0B4F8A"/>
          </a:solidFill>
          <a:ln w="12700">
            <a:solidFill>
              <a:srgbClr val="0B4F8A"/>
            </a:solidFill>
            <a:prstDash val="solid"/>
          </a:ln>
        </p:spPr>
      </p:sp>
      <p:sp>
        <p:nvSpPr>
          <p:cNvPr id="12" name="Text 10"/>
          <p:cNvSpPr/>
          <p:nvPr/>
        </p:nvSpPr>
        <p:spPr>
          <a:xfrm>
            <a:off x="2423160" y="1335024"/>
            <a:ext cx="1993392" cy="685800"/>
          </a:xfrm>
          <a:prstGeom prst="rect">
            <a:avLst/>
          </a:prstGeom>
          <a:noFill/>
          <a:ln/>
        </p:spPr>
        <p:txBody>
          <a:bodyPr wrap="square" lIns="0" tIns="0" rIns="0" bIns="0" rtlCol="0" anchor="ctr"/>
          <a:lstStyle/>
          <a:p>
            <a:pPr algn="ctr" indent="0" marL="0">
              <a:buNone/>
            </a:pPr>
            <a:r>
              <a:rPr lang="en-US" sz="3000" b="1" dirty="0">
                <a:solidFill>
                  <a:srgbClr val="0B4F8A"/>
                </a:solidFill>
                <a:latin typeface="Georgia" pitchFamily="34" charset="0"/>
                <a:ea typeface="Georgia" pitchFamily="34" charset="-122"/>
                <a:cs typeface="Georgia" pitchFamily="34" charset="-120"/>
              </a:rPr>
              <a:t>45%</a:t>
            </a:r>
            <a:endParaRPr lang="en-US" sz="3000" dirty="0"/>
          </a:p>
        </p:txBody>
      </p:sp>
      <p:sp>
        <p:nvSpPr>
          <p:cNvPr id="13" name="Text 11"/>
          <p:cNvSpPr/>
          <p:nvPr/>
        </p:nvSpPr>
        <p:spPr>
          <a:xfrm>
            <a:off x="2423160" y="2039112"/>
            <a:ext cx="1993392" cy="530352"/>
          </a:xfrm>
          <a:prstGeom prst="rect">
            <a:avLst/>
          </a:prstGeom>
          <a:noFill/>
          <a:ln/>
        </p:spPr>
        <p:txBody>
          <a:bodyPr wrap="square" lIns="0" tIns="0" rIns="0" bIns="0" rtlCol="0" anchor="ctr"/>
          <a:lstStyle/>
          <a:p>
            <a:pPr algn="ctr" indent="0" marL="0">
              <a:buNone/>
            </a:pPr>
            <a:r>
              <a:rPr lang="en-US" sz="850" dirty="0">
                <a:solidFill>
                  <a:srgbClr val="4A5E54"/>
                </a:solidFill>
              </a:rPr>
              <a:t>Fournisseurs évalués</a:t>
            </a:r>
            <a:endParaRPr lang="en-US" sz="850" dirty="0"/>
          </a:p>
          <a:p>
            <a:pPr algn="ctr" indent="0" marL="0">
              <a:buNone/>
            </a:pPr>
            <a:r>
              <a:rPr lang="en-US" sz="850" dirty="0">
                <a:solidFill>
                  <a:srgbClr val="4A5E54"/>
                </a:solidFill>
              </a:rPr>
              <a:t>EcoVadis (2024)</a:t>
            </a:r>
            <a:endParaRPr lang="en-US" sz="850" dirty="0"/>
          </a:p>
        </p:txBody>
      </p:sp>
      <p:sp>
        <p:nvSpPr>
          <p:cNvPr id="14" name="Shape 12"/>
          <p:cNvSpPr/>
          <p:nvPr/>
        </p:nvSpPr>
        <p:spPr>
          <a:xfrm>
            <a:off x="4590288" y="1170432"/>
            <a:ext cx="1993392" cy="148132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4590288" y="1170432"/>
            <a:ext cx="1993392" cy="82296"/>
          </a:xfrm>
          <a:prstGeom prst="rect">
            <a:avLst/>
          </a:prstGeom>
          <a:solidFill>
            <a:srgbClr val="1E5FA8"/>
          </a:solidFill>
          <a:ln w="12700">
            <a:solidFill>
              <a:srgbClr val="1E5FA8"/>
            </a:solidFill>
            <a:prstDash val="solid"/>
          </a:ln>
        </p:spPr>
      </p:sp>
      <p:sp>
        <p:nvSpPr>
          <p:cNvPr id="16" name="Text 14"/>
          <p:cNvSpPr/>
          <p:nvPr/>
        </p:nvSpPr>
        <p:spPr>
          <a:xfrm>
            <a:off x="4590288" y="1335024"/>
            <a:ext cx="1993392" cy="685800"/>
          </a:xfrm>
          <a:prstGeom prst="rect">
            <a:avLst/>
          </a:prstGeom>
          <a:noFill/>
          <a:ln/>
        </p:spPr>
        <p:txBody>
          <a:bodyPr wrap="square" lIns="0" tIns="0" rIns="0" bIns="0" rtlCol="0" anchor="ctr"/>
          <a:lstStyle/>
          <a:p>
            <a:pPr algn="ctr" indent="0" marL="0">
              <a:buNone/>
            </a:pPr>
            <a:r>
              <a:rPr lang="en-US" sz="3000" b="1" dirty="0">
                <a:solidFill>
                  <a:srgbClr val="1E5FA8"/>
                </a:solidFill>
                <a:latin typeface="Georgia" pitchFamily="34" charset="0"/>
                <a:ea typeface="Georgia" pitchFamily="34" charset="-122"/>
                <a:cs typeface="Georgia" pitchFamily="34" charset="-120"/>
              </a:rPr>
              <a:t>56%</a:t>
            </a:r>
            <a:endParaRPr lang="en-US" sz="3000" dirty="0"/>
          </a:p>
        </p:txBody>
      </p:sp>
      <p:sp>
        <p:nvSpPr>
          <p:cNvPr id="17" name="Text 15"/>
          <p:cNvSpPr/>
          <p:nvPr/>
        </p:nvSpPr>
        <p:spPr>
          <a:xfrm>
            <a:off x="4590288" y="2039112"/>
            <a:ext cx="1993392" cy="530352"/>
          </a:xfrm>
          <a:prstGeom prst="rect">
            <a:avLst/>
          </a:prstGeom>
          <a:noFill/>
          <a:ln/>
        </p:spPr>
        <p:txBody>
          <a:bodyPr wrap="square" lIns="0" tIns="0" rIns="0" bIns="0" rtlCol="0" anchor="ctr"/>
          <a:lstStyle/>
          <a:p>
            <a:pPr algn="ctr" indent="0" marL="0">
              <a:buNone/>
            </a:pPr>
            <a:r>
              <a:rPr lang="en-US" sz="850" dirty="0">
                <a:solidFill>
                  <a:srgbClr val="4A5E54"/>
                </a:solidFill>
              </a:rPr>
              <a:t>Achats issus de fournisseurs</a:t>
            </a:r>
            <a:endParaRPr lang="en-US" sz="850" dirty="0"/>
          </a:p>
          <a:p>
            <a:pPr algn="ctr" indent="0" marL="0">
              <a:buNone/>
            </a:pPr>
            <a:r>
              <a:rPr lang="en-US" sz="850" dirty="0">
                <a:solidFill>
                  <a:srgbClr val="4A5E54"/>
                </a:solidFill>
              </a:rPr>
              <a:t>évalués RSE (+15 pts)</a:t>
            </a:r>
            <a:endParaRPr lang="en-US" sz="850" dirty="0"/>
          </a:p>
        </p:txBody>
      </p:sp>
      <p:sp>
        <p:nvSpPr>
          <p:cNvPr id="18" name="Shape 16"/>
          <p:cNvSpPr/>
          <p:nvPr/>
        </p:nvSpPr>
        <p:spPr>
          <a:xfrm>
            <a:off x="6757416" y="1170432"/>
            <a:ext cx="1993392" cy="1481328"/>
          </a:xfrm>
          <a:prstGeom prst="rect">
            <a:avLst/>
          </a:prstGeom>
          <a:solidFill>
            <a:srgbClr val="FFFFFF"/>
          </a:solidFill>
          <a:ln w="12700">
            <a:solidFill>
              <a:srgbClr val="D4EAE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6757416" y="1170432"/>
            <a:ext cx="1993392" cy="82296"/>
          </a:xfrm>
          <a:prstGeom prst="rect">
            <a:avLst/>
          </a:prstGeom>
          <a:solidFill>
            <a:srgbClr val="1A6E4A"/>
          </a:solidFill>
          <a:ln w="12700">
            <a:solidFill>
              <a:srgbClr val="1A6E4A"/>
            </a:solidFill>
            <a:prstDash val="solid"/>
          </a:ln>
        </p:spPr>
      </p:sp>
      <p:sp>
        <p:nvSpPr>
          <p:cNvPr id="20" name="Text 18"/>
          <p:cNvSpPr/>
          <p:nvPr/>
        </p:nvSpPr>
        <p:spPr>
          <a:xfrm>
            <a:off x="6757416" y="1335024"/>
            <a:ext cx="1993392" cy="685800"/>
          </a:xfrm>
          <a:prstGeom prst="rect">
            <a:avLst/>
          </a:prstGeom>
          <a:noFill/>
          <a:ln/>
        </p:spPr>
        <p:txBody>
          <a:bodyPr wrap="square" lIns="0" tIns="0" rIns="0" bIns="0" rtlCol="0" anchor="ctr"/>
          <a:lstStyle/>
          <a:p>
            <a:pPr algn="ctr" indent="0" marL="0">
              <a:buNone/>
            </a:pPr>
            <a:r>
              <a:rPr lang="en-US" sz="3000" b="1" dirty="0">
                <a:solidFill>
                  <a:srgbClr val="1A6E4A"/>
                </a:solidFill>
                <a:latin typeface="Georgia" pitchFamily="34" charset="0"/>
                <a:ea typeface="Georgia" pitchFamily="34" charset="-122"/>
                <a:cs typeface="Georgia" pitchFamily="34" charset="-120"/>
              </a:rPr>
              <a:t>🥈</a:t>
            </a:r>
            <a:endParaRPr lang="en-US" sz="3000" dirty="0"/>
          </a:p>
        </p:txBody>
      </p:sp>
      <p:sp>
        <p:nvSpPr>
          <p:cNvPr id="21" name="Text 19"/>
          <p:cNvSpPr/>
          <p:nvPr/>
        </p:nvSpPr>
        <p:spPr>
          <a:xfrm>
            <a:off x="6757416" y="2039112"/>
            <a:ext cx="1993392" cy="530352"/>
          </a:xfrm>
          <a:prstGeom prst="rect">
            <a:avLst/>
          </a:prstGeom>
          <a:noFill/>
          <a:ln/>
        </p:spPr>
        <p:txBody>
          <a:bodyPr wrap="square" lIns="0" tIns="0" rIns="0" bIns="0" rtlCol="0" anchor="ctr"/>
          <a:lstStyle/>
          <a:p>
            <a:pPr algn="ctr" indent="0" marL="0">
              <a:buNone/>
            </a:pPr>
            <a:r>
              <a:rPr lang="en-US" sz="850" dirty="0">
                <a:solidFill>
                  <a:srgbClr val="4A5E54"/>
                </a:solidFill>
              </a:rPr>
              <a:t>Médaille Argent EcoVadis</a:t>
            </a:r>
            <a:endParaRPr lang="en-US" sz="850" dirty="0"/>
          </a:p>
          <a:p>
            <a:pPr algn="ctr" indent="0" marL="0">
              <a:buNone/>
            </a:pPr>
            <a:r>
              <a:rPr lang="en-US" sz="850" dirty="0">
                <a:solidFill>
                  <a:srgbClr val="4A5E54"/>
                </a:solidFill>
              </a:rPr>
              <a:t>Top 15% mondial</a:t>
            </a:r>
            <a:endParaRPr lang="en-US" sz="850" dirty="0"/>
          </a:p>
        </p:txBody>
      </p:sp>
      <p:sp>
        <p:nvSpPr>
          <p:cNvPr id="22" name="Shape 20"/>
          <p:cNvSpPr/>
          <p:nvPr/>
        </p:nvSpPr>
        <p:spPr>
          <a:xfrm>
            <a:off x="256032" y="2834640"/>
            <a:ext cx="4187952" cy="1005840"/>
          </a:xfrm>
          <a:prstGeom prst="rect">
            <a:avLst/>
          </a:prstGeom>
          <a:solidFill>
            <a:srgbClr val="FFFFFF"/>
          </a:solidFill>
          <a:ln w="12700">
            <a:solidFill>
              <a:srgbClr val="1A6E4A"/>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256032" y="2834640"/>
            <a:ext cx="91440" cy="1005840"/>
          </a:xfrm>
          <a:prstGeom prst="rect">
            <a:avLst/>
          </a:prstGeom>
          <a:solidFill>
            <a:srgbClr val="1A6E4A"/>
          </a:solidFill>
          <a:ln w="12700">
            <a:solidFill>
              <a:srgbClr val="1A6E4A"/>
            </a:solidFill>
            <a:prstDash val="solid"/>
          </a:ln>
        </p:spPr>
      </p:sp>
      <p:sp>
        <p:nvSpPr>
          <p:cNvPr id="24" name="Text 22"/>
          <p:cNvSpPr/>
          <p:nvPr/>
        </p:nvSpPr>
        <p:spPr>
          <a:xfrm>
            <a:off x="457200" y="2889504"/>
            <a:ext cx="3867912" cy="292608"/>
          </a:xfrm>
          <a:prstGeom prst="rect">
            <a:avLst/>
          </a:prstGeom>
          <a:noFill/>
          <a:ln/>
        </p:spPr>
        <p:txBody>
          <a:bodyPr wrap="square" lIns="0" tIns="0" rIns="0" bIns="0" rtlCol="0" anchor="ctr"/>
          <a:lstStyle/>
          <a:p>
            <a:pPr indent="0" marL="0">
              <a:buNone/>
            </a:pPr>
            <a:r>
              <a:rPr lang="en-US" sz="1100" b="1" dirty="0">
                <a:solidFill>
                  <a:srgbClr val="1A6E4A"/>
                </a:solidFill>
              </a:rPr>
              <a:t>🌍  Environnement</a:t>
            </a:r>
            <a:endParaRPr lang="en-US" sz="1100" dirty="0"/>
          </a:p>
        </p:txBody>
      </p:sp>
      <p:sp>
        <p:nvSpPr>
          <p:cNvPr id="25" name="Text 23"/>
          <p:cNvSpPr/>
          <p:nvPr/>
        </p:nvSpPr>
        <p:spPr>
          <a:xfrm>
            <a:off x="457200" y="31821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-26% d'émissions CO₂ liées au gaz &amp; électricité sur les sites industriels</a:t>
            </a:r>
            <a:endParaRPr lang="en-US" sz="850" dirty="0"/>
          </a:p>
        </p:txBody>
      </p:sp>
      <p:sp>
        <p:nvSpPr>
          <p:cNvPr id="26" name="Text 24"/>
          <p:cNvSpPr/>
          <p:nvPr/>
        </p:nvSpPr>
        <p:spPr>
          <a:xfrm>
            <a:off x="457200" y="34107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Renouvellement certifications ISO sites français (division bateau)</a:t>
            </a:r>
            <a:endParaRPr lang="en-US" sz="850" dirty="0"/>
          </a:p>
        </p:txBody>
      </p:sp>
      <p:sp>
        <p:nvSpPr>
          <p:cNvPr id="27" name="Text 25"/>
          <p:cNvSpPr/>
          <p:nvPr/>
        </p:nvSpPr>
        <p:spPr>
          <a:xfrm>
            <a:off x="457200" y="36393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Innovations : résine recyclable Elium© (Oceanis Yacht 60)</a:t>
            </a:r>
            <a:endParaRPr lang="en-US" sz="850" dirty="0"/>
          </a:p>
        </p:txBody>
      </p:sp>
      <p:sp>
        <p:nvSpPr>
          <p:cNvPr id="28" name="Shape 26"/>
          <p:cNvSpPr/>
          <p:nvPr/>
        </p:nvSpPr>
        <p:spPr>
          <a:xfrm>
            <a:off x="4709160" y="2834640"/>
            <a:ext cx="4187952" cy="1005840"/>
          </a:xfrm>
          <a:prstGeom prst="rect">
            <a:avLst/>
          </a:prstGeom>
          <a:solidFill>
            <a:srgbClr val="FFFFFF"/>
          </a:solidFill>
          <a:ln w="12700">
            <a:solidFill>
              <a:srgbClr val="0B4F8A"/>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4709160" y="2834640"/>
            <a:ext cx="91440" cy="1005840"/>
          </a:xfrm>
          <a:prstGeom prst="rect">
            <a:avLst/>
          </a:prstGeom>
          <a:solidFill>
            <a:srgbClr val="0B4F8A"/>
          </a:solidFill>
          <a:ln w="12700">
            <a:solidFill>
              <a:srgbClr val="0B4F8A"/>
            </a:solidFill>
            <a:prstDash val="solid"/>
          </a:ln>
        </p:spPr>
      </p:sp>
      <p:sp>
        <p:nvSpPr>
          <p:cNvPr id="30" name="Text 28"/>
          <p:cNvSpPr/>
          <p:nvPr/>
        </p:nvSpPr>
        <p:spPr>
          <a:xfrm>
            <a:off x="4910328" y="2889504"/>
            <a:ext cx="3867912" cy="292608"/>
          </a:xfrm>
          <a:prstGeom prst="rect">
            <a:avLst/>
          </a:prstGeom>
          <a:noFill/>
          <a:ln/>
        </p:spPr>
        <p:txBody>
          <a:bodyPr wrap="square" lIns="0" tIns="0" rIns="0" bIns="0" rtlCol="0" anchor="ctr"/>
          <a:lstStyle/>
          <a:p>
            <a:pPr indent="0" marL="0">
              <a:buNone/>
            </a:pPr>
            <a:r>
              <a:rPr lang="en-US" sz="1100" b="1" dirty="0">
                <a:solidFill>
                  <a:srgbClr val="0B4F8A"/>
                </a:solidFill>
              </a:rPr>
              <a:t>⚓  Chaîne d'approvisionnement</a:t>
            </a:r>
            <a:endParaRPr lang="en-US" sz="1100" dirty="0"/>
          </a:p>
        </p:txBody>
      </p:sp>
      <p:sp>
        <p:nvSpPr>
          <p:cNvPr id="31" name="Text 29"/>
          <p:cNvSpPr/>
          <p:nvPr/>
        </p:nvSpPr>
        <p:spPr>
          <a:xfrm>
            <a:off x="4910328" y="31821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Programme BuySustainable lancé en avril 2025</a:t>
            </a:r>
            <a:endParaRPr lang="en-US" sz="850" dirty="0"/>
          </a:p>
        </p:txBody>
      </p:sp>
      <p:sp>
        <p:nvSpPr>
          <p:cNvPr id="32" name="Text 30"/>
          <p:cNvSpPr/>
          <p:nvPr/>
        </p:nvSpPr>
        <p:spPr>
          <a:xfrm>
            <a:off x="4910328" y="34107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45% fournisseurs évalués EcoVadis (vs 24% en 2022)</a:t>
            </a:r>
            <a:endParaRPr lang="en-US" sz="850" dirty="0"/>
          </a:p>
        </p:txBody>
      </p:sp>
      <p:sp>
        <p:nvSpPr>
          <p:cNvPr id="33" name="Text 31"/>
          <p:cNvSpPr/>
          <p:nvPr/>
        </p:nvSpPr>
        <p:spPr>
          <a:xfrm>
            <a:off x="4910328" y="3639312"/>
            <a:ext cx="3867912" cy="219456"/>
          </a:xfrm>
          <a:prstGeom prst="rect">
            <a:avLst/>
          </a:prstGeom>
          <a:noFill/>
          <a:ln/>
        </p:spPr>
        <p:txBody>
          <a:bodyPr wrap="square" lIns="0" tIns="0" rIns="0" bIns="0" rtlCol="0" anchor="ctr"/>
          <a:lstStyle/>
          <a:p>
            <a:pPr indent="0" marL="0">
              <a:buNone/>
            </a:pPr>
            <a:r>
              <a:rPr lang="en-US" sz="850" dirty="0">
                <a:solidFill>
                  <a:srgbClr val="1C2B22"/>
                </a:solidFill>
              </a:rPr>
              <a:t>‣  56% des achats issus de fournisseurs évalués RSE</a:t>
            </a:r>
            <a:endParaRPr lang="en-US" sz="850" dirty="0"/>
          </a:p>
        </p:txBody>
      </p:sp>
      <p:sp>
        <p:nvSpPr>
          <p:cNvPr id="34" name="Shape 32"/>
          <p:cNvSpPr/>
          <p:nvPr/>
        </p:nvSpPr>
        <p:spPr>
          <a:xfrm>
            <a:off x="256032" y="3950208"/>
            <a:ext cx="4187952" cy="1005840"/>
          </a:xfrm>
          <a:prstGeom prst="rect">
            <a:avLst/>
          </a:prstGeom>
          <a:solidFill>
            <a:srgbClr val="FFFFFF"/>
          </a:solidFill>
          <a:ln w="12700">
            <a:solidFill>
              <a:srgbClr val="1E5FA8"/>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256032" y="3950208"/>
            <a:ext cx="91440" cy="1005840"/>
          </a:xfrm>
          <a:prstGeom prst="rect">
            <a:avLst/>
          </a:prstGeom>
          <a:solidFill>
            <a:srgbClr val="1E5FA8"/>
          </a:solidFill>
          <a:ln w="12700">
            <a:solidFill>
              <a:srgbClr val="1E5FA8"/>
            </a:solidFill>
            <a:prstDash val="solid"/>
          </a:ln>
        </p:spPr>
      </p:sp>
      <p:sp>
        <p:nvSpPr>
          <p:cNvPr id="36" name="Text 34"/>
          <p:cNvSpPr/>
          <p:nvPr/>
        </p:nvSpPr>
        <p:spPr>
          <a:xfrm>
            <a:off x="457200" y="4005072"/>
            <a:ext cx="3867912" cy="292608"/>
          </a:xfrm>
          <a:prstGeom prst="rect">
            <a:avLst/>
          </a:prstGeom>
          <a:noFill/>
          <a:ln/>
        </p:spPr>
        <p:txBody>
          <a:bodyPr wrap="square" lIns="0" tIns="0" rIns="0" bIns="0" rtlCol="0" anchor="ctr"/>
          <a:lstStyle/>
          <a:p>
            <a:pPr indent="0" marL="0">
              <a:buNone/>
            </a:pPr>
            <a:r>
              <a:rPr lang="en-US" sz="1100" b="1" dirty="0">
                <a:solidFill>
                  <a:srgbClr val="1E5FA8"/>
                </a:solidFill>
              </a:rPr>
              <a:t>👥  Social &amp; RH</a:t>
            </a:r>
            <a:endParaRPr lang="en-US" sz="1100" dirty="0"/>
          </a:p>
        </p:txBody>
      </p:sp>
      <p:sp>
        <p:nvSpPr>
          <p:cNvPr id="37" name="Text 35"/>
          <p:cNvSpPr/>
          <p:nvPr/>
        </p:nvSpPr>
        <p:spPr>
          <a:xfrm>
            <a:off x="457200" y="42976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Initiative B-Equal : accélérateur de parité femmes/hommes</a:t>
            </a:r>
            <a:endParaRPr lang="en-US" sz="850" dirty="0"/>
          </a:p>
        </p:txBody>
      </p:sp>
      <p:sp>
        <p:nvSpPr>
          <p:cNvPr id="38" name="Text 36"/>
          <p:cNvSpPr/>
          <p:nvPr/>
        </p:nvSpPr>
        <p:spPr>
          <a:xfrm>
            <a:off x="457200" y="45262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Formation en hausse de +4%</a:t>
            </a:r>
            <a:endParaRPr lang="en-US" sz="850" dirty="0"/>
          </a:p>
        </p:txBody>
      </p:sp>
      <p:sp>
        <p:nvSpPr>
          <p:cNvPr id="39" name="Text 37"/>
          <p:cNvSpPr/>
          <p:nvPr/>
        </p:nvSpPr>
        <p:spPr>
          <a:xfrm>
            <a:off x="457200" y="47548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Préservation des compétences face au contexte économique</a:t>
            </a:r>
            <a:endParaRPr lang="en-US" sz="850" dirty="0"/>
          </a:p>
        </p:txBody>
      </p:sp>
      <p:sp>
        <p:nvSpPr>
          <p:cNvPr id="40" name="Shape 38"/>
          <p:cNvSpPr/>
          <p:nvPr/>
        </p:nvSpPr>
        <p:spPr>
          <a:xfrm>
            <a:off x="4709160" y="3950208"/>
            <a:ext cx="4187952" cy="1005840"/>
          </a:xfrm>
          <a:prstGeom prst="rect">
            <a:avLst/>
          </a:prstGeom>
          <a:solidFill>
            <a:srgbClr val="FFFFFF"/>
          </a:solidFill>
          <a:ln w="12700">
            <a:solidFill>
              <a:srgbClr val="0B3D2C"/>
            </a:solidFill>
            <a:prstDash val="solid"/>
          </a:ln>
          <a:effectLst>
            <a:outerShdw sx="100000" sy="100000" kx="0" ky="0" algn="bl" rotWithShape="0" blurRad="101600" dist="38100" dir="8100000">
              <a:srgbClr val="000000">
                <a:alpha val="10000"/>
              </a:srgbClr>
            </a:outerShdw>
          </a:effectLst>
        </p:spPr>
      </p:sp>
      <p:sp>
        <p:nvSpPr>
          <p:cNvPr id="41" name="Shape 39"/>
          <p:cNvSpPr/>
          <p:nvPr/>
        </p:nvSpPr>
        <p:spPr>
          <a:xfrm>
            <a:off x="4709160" y="3950208"/>
            <a:ext cx="91440" cy="1005840"/>
          </a:xfrm>
          <a:prstGeom prst="rect">
            <a:avLst/>
          </a:prstGeom>
          <a:solidFill>
            <a:srgbClr val="0B3D2C"/>
          </a:solidFill>
          <a:ln w="12700">
            <a:solidFill>
              <a:srgbClr val="0B3D2C"/>
            </a:solidFill>
            <a:prstDash val="solid"/>
          </a:ln>
        </p:spPr>
      </p:sp>
      <p:sp>
        <p:nvSpPr>
          <p:cNvPr id="42" name="Text 40"/>
          <p:cNvSpPr/>
          <p:nvPr/>
        </p:nvSpPr>
        <p:spPr>
          <a:xfrm>
            <a:off x="4910328" y="4005072"/>
            <a:ext cx="3867912" cy="292608"/>
          </a:xfrm>
          <a:prstGeom prst="rect">
            <a:avLst/>
          </a:prstGeom>
          <a:noFill/>
          <a:ln/>
        </p:spPr>
        <p:txBody>
          <a:bodyPr wrap="square" lIns="0" tIns="0" rIns="0" bIns="0" rtlCol="0" anchor="ctr"/>
          <a:lstStyle/>
          <a:p>
            <a:pPr indent="0" marL="0">
              <a:buNone/>
            </a:pPr>
            <a:r>
              <a:rPr lang="en-US" sz="1100" b="1" dirty="0">
                <a:solidFill>
                  <a:srgbClr val="0B3D2C"/>
                </a:solidFill>
              </a:rPr>
              <a:t>🌐  Gouvernance &amp; Partenariats</a:t>
            </a:r>
            <a:endParaRPr lang="en-US" sz="1100" dirty="0"/>
          </a:p>
        </p:txBody>
      </p:sp>
      <p:sp>
        <p:nvSpPr>
          <p:cNvPr id="43" name="Text 41"/>
          <p:cNvSpPr/>
          <p:nvPr/>
        </p:nvSpPr>
        <p:spPr>
          <a:xfrm>
            <a:off x="4910328" y="42976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Adhésion renouvelée au Pacte Mondial des Nations Unies (2024)</a:t>
            </a:r>
            <a:endParaRPr lang="en-US" sz="850" dirty="0"/>
          </a:p>
        </p:txBody>
      </p:sp>
      <p:sp>
        <p:nvSpPr>
          <p:cNvPr id="44" name="Text 42"/>
          <p:cNvSpPr/>
          <p:nvPr/>
        </p:nvSpPr>
        <p:spPr>
          <a:xfrm>
            <a:off x="4910328" y="45262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Premier chantier naval signataire (décembre 2020)</a:t>
            </a:r>
            <a:endParaRPr lang="en-US" sz="850" dirty="0"/>
          </a:p>
        </p:txBody>
      </p:sp>
      <p:sp>
        <p:nvSpPr>
          <p:cNvPr id="45" name="Text 43"/>
          <p:cNvSpPr/>
          <p:nvPr/>
        </p:nvSpPr>
        <p:spPr>
          <a:xfrm>
            <a:off x="4910328" y="4754880"/>
            <a:ext cx="3867912" cy="219456"/>
          </a:xfrm>
          <a:prstGeom prst="rect">
            <a:avLst/>
          </a:prstGeom>
          <a:noFill/>
          <a:ln/>
        </p:spPr>
        <p:txBody>
          <a:bodyPr wrap="square" lIns="0" tIns="0" rIns="0" bIns="0" rtlCol="0" anchor="ctr"/>
          <a:lstStyle/>
          <a:p>
            <a:pPr indent="0" marL="0">
              <a:buNone/>
            </a:pPr>
            <a:r>
              <a:rPr lang="en-US" sz="850" dirty="0">
                <a:solidFill>
                  <a:srgbClr val="1C2B22"/>
                </a:solidFill>
              </a:rPr>
              <a:t>‣  Offre de refit Lagoon 620 NEO (économie circulaire)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D2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4F8A"/>
          </a:solidFill>
          <a:ln w="12700">
            <a:solidFill>
              <a:srgbClr val="0B4F8A"/>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64008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02 — Groupe Bénéteau</a:t>
            </a:r>
            <a:endParaRPr lang="en-US" sz="2600" dirty="0"/>
          </a:p>
        </p:txBody>
      </p:sp>
      <p:sp>
        <p:nvSpPr>
          <p:cNvPr id="5" name="Text 3"/>
          <p:cNvSpPr/>
          <p:nvPr/>
        </p:nvSpPr>
        <p:spPr>
          <a:xfrm>
            <a:off x="6400800" y="0"/>
            <a:ext cx="2286000" cy="960120"/>
          </a:xfrm>
          <a:prstGeom prst="rect">
            <a:avLst/>
          </a:prstGeom>
          <a:noFill/>
          <a:ln/>
        </p:spPr>
        <p:txBody>
          <a:bodyPr wrap="square" lIns="0" tIns="0" rIns="0" bIns="0" rtlCol="0" anchor="ctr"/>
          <a:lstStyle/>
          <a:p>
            <a:pPr algn="r" indent="0" marL="0">
              <a:buNone/>
            </a:pPr>
            <a:r>
              <a:rPr lang="en-US" sz="900" b="1" spc="300" kern="0" dirty="0">
                <a:solidFill>
                  <a:srgbClr val="B8D4F0"/>
                </a:solidFill>
              </a:rPr>
              <a:t>STRATÉGIE B-SUSTAINABLE 2030</a:t>
            </a:r>
            <a:endParaRPr lang="en-US" sz="900" dirty="0"/>
          </a:p>
        </p:txBody>
      </p:sp>
      <p:sp>
        <p:nvSpPr>
          <p:cNvPr id="6" name="Text 4"/>
          <p:cNvSpPr/>
          <p:nvPr/>
        </p:nvSpPr>
        <p:spPr>
          <a:xfrm>
            <a:off x="2011680" y="1115568"/>
            <a:ext cx="5120640" cy="658368"/>
          </a:xfrm>
          <a:prstGeom prst="rect">
            <a:avLst/>
          </a:prstGeom>
          <a:noFill/>
          <a:ln/>
        </p:spPr>
        <p:txBody>
          <a:bodyPr wrap="square" lIns="0" tIns="0" rIns="0" bIns="0" rtlCol="0" anchor="ctr"/>
          <a:lstStyle/>
          <a:p>
            <a:pPr algn="ctr" indent="0" marL="0">
              <a:buNone/>
            </a:pPr>
            <a:r>
              <a:rPr lang="en-US" sz="3600" b="1" spc="400" kern="0" dirty="0">
                <a:solidFill>
                  <a:srgbClr val="2DC87A"/>
                </a:solidFill>
                <a:latin typeface="Georgia" pitchFamily="34" charset="0"/>
                <a:ea typeface="Georgia" pitchFamily="34" charset="-122"/>
                <a:cs typeface="Georgia" pitchFamily="34" charset="-120"/>
              </a:rPr>
              <a:t>B·SUSTAINABLE</a:t>
            </a:r>
            <a:endParaRPr lang="en-US" sz="3600" dirty="0"/>
          </a:p>
        </p:txBody>
      </p:sp>
      <p:sp>
        <p:nvSpPr>
          <p:cNvPr id="7" name="Text 5"/>
          <p:cNvSpPr/>
          <p:nvPr/>
        </p:nvSpPr>
        <p:spPr>
          <a:xfrm>
            <a:off x="1371600" y="1719072"/>
            <a:ext cx="6400800" cy="320040"/>
          </a:xfrm>
          <a:prstGeom prst="rect">
            <a:avLst/>
          </a:prstGeom>
          <a:noFill/>
          <a:ln/>
        </p:spPr>
        <p:txBody>
          <a:bodyPr wrap="square" lIns="0" tIns="0" rIns="0" bIns="0" rtlCol="0" anchor="ctr"/>
          <a:lstStyle/>
          <a:p>
            <a:pPr algn="ctr" indent="0" marL="0">
              <a:buNone/>
            </a:pPr>
            <a:r>
              <a:rPr lang="en-US" sz="1100" i="1" dirty="0">
                <a:solidFill>
                  <a:srgbClr val="A0C8B0"/>
                </a:solidFill>
              </a:rPr>
              <a:t>Feuille de route RSE 2030 — 3 piliers stratégiques</a:t>
            </a:r>
            <a:endParaRPr lang="en-US" sz="1100" dirty="0"/>
          </a:p>
        </p:txBody>
      </p:sp>
      <p:sp>
        <p:nvSpPr>
          <p:cNvPr id="8" name="Shape 6"/>
          <p:cNvSpPr/>
          <p:nvPr/>
        </p:nvSpPr>
        <p:spPr>
          <a:xfrm>
            <a:off x="320040" y="2240280"/>
            <a:ext cx="2697480" cy="2697480"/>
          </a:xfrm>
          <a:prstGeom prst="rect">
            <a:avLst/>
          </a:prstGeom>
          <a:solidFill>
            <a:srgbClr val="1A6E4A">
              <a:alpha val="15000"/>
            </a:srgbClr>
          </a:solidFill>
          <a:ln w="12700">
            <a:solidFill>
              <a:srgbClr val="2DC87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2240280"/>
            <a:ext cx="2697480" cy="73152"/>
          </a:xfrm>
          <a:prstGeom prst="rect">
            <a:avLst/>
          </a:prstGeom>
          <a:solidFill>
            <a:srgbClr val="2DC87A"/>
          </a:solidFill>
          <a:ln w="12700">
            <a:solidFill>
              <a:srgbClr val="2DC87A"/>
            </a:solidFill>
            <a:prstDash val="solid"/>
          </a:ln>
        </p:spPr>
      </p:sp>
      <p:sp>
        <p:nvSpPr>
          <p:cNvPr id="10" name="Text 8"/>
          <p:cNvSpPr/>
          <p:nvPr/>
        </p:nvSpPr>
        <p:spPr>
          <a:xfrm>
            <a:off x="320040" y="2404872"/>
            <a:ext cx="2697480" cy="502920"/>
          </a:xfrm>
          <a:prstGeom prst="rect">
            <a:avLst/>
          </a:prstGeom>
          <a:noFill/>
          <a:ln/>
        </p:spPr>
        <p:txBody>
          <a:bodyPr wrap="square" lIns="0" tIns="0" rIns="0" bIns="0" rtlCol="0" anchor="ctr"/>
          <a:lstStyle/>
          <a:p>
            <a:pPr algn="ctr" indent="0" marL="0">
              <a:buNone/>
            </a:pPr>
            <a:r>
              <a:rPr lang="en-US" sz="2800" b="1" dirty="0">
                <a:solidFill>
                  <a:srgbClr val="2DC87A"/>
                </a:solidFill>
                <a:latin typeface="Georgia" pitchFamily="34" charset="0"/>
                <a:ea typeface="Georgia" pitchFamily="34" charset="-122"/>
                <a:cs typeface="Georgia" pitchFamily="34" charset="-120"/>
              </a:rPr>
              <a:t>01</a:t>
            </a:r>
            <a:endParaRPr lang="en-US" sz="2800" dirty="0"/>
          </a:p>
        </p:txBody>
      </p:sp>
      <p:sp>
        <p:nvSpPr>
          <p:cNvPr id="11" name="Text 9"/>
          <p:cNvSpPr/>
          <p:nvPr/>
        </p:nvSpPr>
        <p:spPr>
          <a:xfrm>
            <a:off x="320040" y="2898648"/>
            <a:ext cx="2697480" cy="320040"/>
          </a:xfrm>
          <a:prstGeom prst="rect">
            <a:avLst/>
          </a:prstGeom>
          <a:noFill/>
          <a:ln/>
        </p:spPr>
        <p:txBody>
          <a:bodyPr wrap="square" lIns="0" tIns="0" rIns="0" bIns="0" rtlCol="0" anchor="ctr"/>
          <a:lstStyle/>
          <a:p>
            <a:pPr algn="ctr" indent="0" marL="0">
              <a:buNone/>
            </a:pPr>
            <a:r>
              <a:rPr lang="en-US" sz="1100" b="1" spc="200" kern="0" dirty="0">
                <a:solidFill>
                  <a:srgbClr val="2DC87A"/>
                </a:solidFill>
              </a:rPr>
              <a:t>ETHICAL GROWTH</a:t>
            </a:r>
            <a:endParaRPr lang="en-US" sz="1100" dirty="0"/>
          </a:p>
        </p:txBody>
      </p:sp>
      <p:sp>
        <p:nvSpPr>
          <p:cNvPr id="12" name="Text 10"/>
          <p:cNvSpPr/>
          <p:nvPr/>
        </p:nvSpPr>
        <p:spPr>
          <a:xfrm>
            <a:off x="320040" y="3200400"/>
            <a:ext cx="2697480" cy="274320"/>
          </a:xfrm>
          <a:prstGeom prst="rect">
            <a:avLst/>
          </a:prstGeom>
          <a:noFill/>
          <a:ln/>
        </p:spPr>
        <p:txBody>
          <a:bodyPr wrap="square" lIns="0" tIns="0" rIns="0" bIns="0" rtlCol="0" anchor="ctr"/>
          <a:lstStyle/>
          <a:p>
            <a:pPr algn="ctr" indent="0" marL="0">
              <a:buNone/>
            </a:pPr>
            <a:r>
              <a:rPr lang="en-US" sz="950" i="1" dirty="0">
                <a:solidFill>
                  <a:srgbClr val="C8E8D8"/>
                </a:solidFill>
              </a:rPr>
              <a:t>Grandir avec éthique</a:t>
            </a:r>
            <a:endParaRPr lang="en-US" sz="950" dirty="0"/>
          </a:p>
        </p:txBody>
      </p:sp>
      <p:sp>
        <p:nvSpPr>
          <p:cNvPr id="13" name="Shape 11"/>
          <p:cNvSpPr/>
          <p:nvPr/>
        </p:nvSpPr>
        <p:spPr>
          <a:xfrm>
            <a:off x="868680" y="3520440"/>
            <a:ext cx="1600200" cy="27432"/>
          </a:xfrm>
          <a:prstGeom prst="rect">
            <a:avLst/>
          </a:prstGeom>
          <a:solidFill>
            <a:srgbClr val="2DC87A">
              <a:alpha val="50000"/>
            </a:srgbClr>
          </a:solidFill>
          <a:ln w="12700">
            <a:solidFill>
              <a:srgbClr val="2DC87A">
                <a:alpha val="50000"/>
              </a:srgbClr>
            </a:solidFill>
            <a:prstDash val="solid"/>
          </a:ln>
        </p:spPr>
      </p:sp>
      <p:sp>
        <p:nvSpPr>
          <p:cNvPr id="14" name="Text 12"/>
          <p:cNvSpPr/>
          <p:nvPr/>
        </p:nvSpPr>
        <p:spPr>
          <a:xfrm>
            <a:off x="484632" y="3630168"/>
            <a:ext cx="2423160" cy="274320"/>
          </a:xfrm>
          <a:prstGeom prst="rect">
            <a:avLst/>
          </a:prstGeom>
          <a:noFill/>
          <a:ln/>
        </p:spPr>
        <p:txBody>
          <a:bodyPr wrap="square" lIns="0" tIns="0" rIns="0" bIns="0" rtlCol="0" anchor="ctr"/>
          <a:lstStyle/>
          <a:p>
            <a:pPr indent="0" marL="0">
              <a:buNone/>
            </a:pPr>
            <a:r>
              <a:rPr lang="en-US" sz="850" dirty="0">
                <a:solidFill>
                  <a:srgbClr val="D0EAD8"/>
                </a:solidFill>
              </a:rPr>
              <a:t>· Achats responsables</a:t>
            </a:r>
            <a:endParaRPr lang="en-US" sz="850" dirty="0"/>
          </a:p>
        </p:txBody>
      </p:sp>
      <p:sp>
        <p:nvSpPr>
          <p:cNvPr id="15" name="Text 13"/>
          <p:cNvSpPr/>
          <p:nvPr/>
        </p:nvSpPr>
        <p:spPr>
          <a:xfrm>
            <a:off x="484632" y="3931920"/>
            <a:ext cx="2423160" cy="274320"/>
          </a:xfrm>
          <a:prstGeom prst="rect">
            <a:avLst/>
          </a:prstGeom>
          <a:noFill/>
          <a:ln/>
        </p:spPr>
        <p:txBody>
          <a:bodyPr wrap="square" lIns="0" tIns="0" rIns="0" bIns="0" rtlCol="0" anchor="ctr"/>
          <a:lstStyle/>
          <a:p>
            <a:pPr indent="0" marL="0">
              <a:buNone/>
            </a:pPr>
            <a:r>
              <a:rPr lang="en-US" sz="850" dirty="0">
                <a:solidFill>
                  <a:srgbClr val="D0EAD8"/>
                </a:solidFill>
              </a:rPr>
              <a:t>· Programme BuySustainable</a:t>
            </a:r>
            <a:endParaRPr lang="en-US" sz="850" dirty="0"/>
          </a:p>
        </p:txBody>
      </p:sp>
      <p:sp>
        <p:nvSpPr>
          <p:cNvPr id="16" name="Text 14"/>
          <p:cNvSpPr/>
          <p:nvPr/>
        </p:nvSpPr>
        <p:spPr>
          <a:xfrm>
            <a:off x="484632" y="4233672"/>
            <a:ext cx="2423160" cy="274320"/>
          </a:xfrm>
          <a:prstGeom prst="rect">
            <a:avLst/>
          </a:prstGeom>
          <a:noFill/>
          <a:ln/>
        </p:spPr>
        <p:txBody>
          <a:bodyPr wrap="square" lIns="0" tIns="0" rIns="0" bIns="0" rtlCol="0" anchor="ctr"/>
          <a:lstStyle/>
          <a:p>
            <a:pPr indent="0" marL="0">
              <a:buNone/>
            </a:pPr>
            <a:r>
              <a:rPr lang="en-US" sz="850" dirty="0">
                <a:solidFill>
                  <a:srgbClr val="D0EAD8"/>
                </a:solidFill>
              </a:rPr>
              <a:t>· 45 % fournisseurs EcoVadis</a:t>
            </a:r>
            <a:endParaRPr lang="en-US" sz="850" dirty="0"/>
          </a:p>
        </p:txBody>
      </p:sp>
      <p:sp>
        <p:nvSpPr>
          <p:cNvPr id="17" name="Text 15"/>
          <p:cNvSpPr/>
          <p:nvPr/>
        </p:nvSpPr>
        <p:spPr>
          <a:xfrm>
            <a:off x="484632" y="4535424"/>
            <a:ext cx="2423160" cy="274320"/>
          </a:xfrm>
          <a:prstGeom prst="rect">
            <a:avLst/>
          </a:prstGeom>
          <a:noFill/>
          <a:ln/>
        </p:spPr>
        <p:txBody>
          <a:bodyPr wrap="square" lIns="0" tIns="0" rIns="0" bIns="0" rtlCol="0" anchor="ctr"/>
          <a:lstStyle/>
          <a:p>
            <a:pPr indent="0" marL="0">
              <a:buNone/>
            </a:pPr>
            <a:r>
              <a:rPr lang="en-US" sz="850" dirty="0">
                <a:solidFill>
                  <a:srgbClr val="D0EAD8"/>
                </a:solidFill>
              </a:rPr>
              <a:t>· Intégrité &amp; gouvernance</a:t>
            </a:r>
            <a:endParaRPr lang="en-US" sz="850" dirty="0"/>
          </a:p>
        </p:txBody>
      </p:sp>
      <p:sp>
        <p:nvSpPr>
          <p:cNvPr id="18" name="Shape 16"/>
          <p:cNvSpPr/>
          <p:nvPr/>
        </p:nvSpPr>
        <p:spPr>
          <a:xfrm>
            <a:off x="3227832" y="2240280"/>
            <a:ext cx="2697480" cy="2697480"/>
          </a:xfrm>
          <a:prstGeom prst="rect">
            <a:avLst/>
          </a:prstGeom>
          <a:solidFill>
            <a:srgbClr val="1A6E4A">
              <a:alpha val="15000"/>
            </a:srgbClr>
          </a:solidFill>
          <a:ln w="12700">
            <a:solidFill>
              <a:srgbClr val="5BC8F5"/>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227832" y="2240280"/>
            <a:ext cx="2697480" cy="73152"/>
          </a:xfrm>
          <a:prstGeom prst="rect">
            <a:avLst/>
          </a:prstGeom>
          <a:solidFill>
            <a:srgbClr val="5BC8F5"/>
          </a:solidFill>
          <a:ln w="12700">
            <a:solidFill>
              <a:srgbClr val="5BC8F5"/>
            </a:solidFill>
            <a:prstDash val="solid"/>
          </a:ln>
        </p:spPr>
      </p:sp>
      <p:sp>
        <p:nvSpPr>
          <p:cNvPr id="20" name="Text 18"/>
          <p:cNvSpPr/>
          <p:nvPr/>
        </p:nvSpPr>
        <p:spPr>
          <a:xfrm>
            <a:off x="3227832" y="2404872"/>
            <a:ext cx="2697480" cy="502920"/>
          </a:xfrm>
          <a:prstGeom prst="rect">
            <a:avLst/>
          </a:prstGeom>
          <a:noFill/>
          <a:ln/>
        </p:spPr>
        <p:txBody>
          <a:bodyPr wrap="square" lIns="0" tIns="0" rIns="0" bIns="0" rtlCol="0" anchor="ctr"/>
          <a:lstStyle/>
          <a:p>
            <a:pPr algn="ctr" indent="0" marL="0">
              <a:buNone/>
            </a:pPr>
            <a:r>
              <a:rPr lang="en-US" sz="2800" b="1" dirty="0">
                <a:solidFill>
                  <a:srgbClr val="5BC8F5"/>
                </a:solidFill>
                <a:latin typeface="Georgia" pitchFamily="34" charset="0"/>
                <a:ea typeface="Georgia" pitchFamily="34" charset="-122"/>
                <a:cs typeface="Georgia" pitchFamily="34" charset="-120"/>
              </a:rPr>
              <a:t>02</a:t>
            </a:r>
            <a:endParaRPr lang="en-US" sz="2800" dirty="0"/>
          </a:p>
        </p:txBody>
      </p:sp>
      <p:sp>
        <p:nvSpPr>
          <p:cNvPr id="21" name="Text 19"/>
          <p:cNvSpPr/>
          <p:nvPr/>
        </p:nvSpPr>
        <p:spPr>
          <a:xfrm>
            <a:off x="3227832" y="2898648"/>
            <a:ext cx="2697480" cy="320040"/>
          </a:xfrm>
          <a:prstGeom prst="rect">
            <a:avLst/>
          </a:prstGeom>
          <a:noFill/>
          <a:ln/>
        </p:spPr>
        <p:txBody>
          <a:bodyPr wrap="square" lIns="0" tIns="0" rIns="0" bIns="0" rtlCol="0" anchor="ctr"/>
          <a:lstStyle/>
          <a:p>
            <a:pPr algn="ctr" indent="0" marL="0">
              <a:buNone/>
            </a:pPr>
            <a:r>
              <a:rPr lang="en-US" sz="1100" b="1" spc="200" kern="0" dirty="0">
                <a:solidFill>
                  <a:srgbClr val="5BC8F5"/>
                </a:solidFill>
              </a:rPr>
              <a:t>ENGAGED CREW</a:t>
            </a:r>
            <a:endParaRPr lang="en-US" sz="1100" dirty="0"/>
          </a:p>
        </p:txBody>
      </p:sp>
      <p:sp>
        <p:nvSpPr>
          <p:cNvPr id="22" name="Text 20"/>
          <p:cNvSpPr/>
          <p:nvPr/>
        </p:nvSpPr>
        <p:spPr>
          <a:xfrm>
            <a:off x="3227832" y="3200400"/>
            <a:ext cx="2697480" cy="274320"/>
          </a:xfrm>
          <a:prstGeom prst="rect">
            <a:avLst/>
          </a:prstGeom>
          <a:noFill/>
          <a:ln/>
        </p:spPr>
        <p:txBody>
          <a:bodyPr wrap="square" lIns="0" tIns="0" rIns="0" bIns="0" rtlCol="0" anchor="ctr"/>
          <a:lstStyle/>
          <a:p>
            <a:pPr algn="ctr" indent="0" marL="0">
              <a:buNone/>
            </a:pPr>
            <a:r>
              <a:rPr lang="en-US" sz="950" i="1" dirty="0">
                <a:solidFill>
                  <a:srgbClr val="C8E8D8"/>
                </a:solidFill>
              </a:rPr>
              <a:t>Agir en équipage</a:t>
            </a:r>
            <a:endParaRPr lang="en-US" sz="950" dirty="0"/>
          </a:p>
        </p:txBody>
      </p:sp>
      <p:sp>
        <p:nvSpPr>
          <p:cNvPr id="23" name="Shape 21"/>
          <p:cNvSpPr/>
          <p:nvPr/>
        </p:nvSpPr>
        <p:spPr>
          <a:xfrm>
            <a:off x="3776472" y="3520440"/>
            <a:ext cx="1600200" cy="27432"/>
          </a:xfrm>
          <a:prstGeom prst="rect">
            <a:avLst/>
          </a:prstGeom>
          <a:solidFill>
            <a:srgbClr val="5BC8F5">
              <a:alpha val="50000"/>
            </a:srgbClr>
          </a:solidFill>
          <a:ln w="12700">
            <a:solidFill>
              <a:srgbClr val="5BC8F5">
                <a:alpha val="50000"/>
              </a:srgbClr>
            </a:solidFill>
            <a:prstDash val="solid"/>
          </a:ln>
        </p:spPr>
      </p:sp>
      <p:sp>
        <p:nvSpPr>
          <p:cNvPr id="24" name="Text 22"/>
          <p:cNvSpPr/>
          <p:nvPr/>
        </p:nvSpPr>
        <p:spPr>
          <a:xfrm>
            <a:off x="3392424" y="3630168"/>
            <a:ext cx="2423160" cy="274320"/>
          </a:xfrm>
          <a:prstGeom prst="rect">
            <a:avLst/>
          </a:prstGeom>
          <a:noFill/>
          <a:ln/>
        </p:spPr>
        <p:txBody>
          <a:bodyPr wrap="square" lIns="0" tIns="0" rIns="0" bIns="0" rtlCol="0" anchor="ctr"/>
          <a:lstStyle/>
          <a:p>
            <a:pPr indent="0" marL="0">
              <a:buNone/>
            </a:pPr>
            <a:r>
              <a:rPr lang="en-US" sz="850" dirty="0">
                <a:solidFill>
                  <a:srgbClr val="D0EAD8"/>
                </a:solidFill>
              </a:rPr>
              <a:t>· Initiative B-Equal (parité)</a:t>
            </a:r>
            <a:endParaRPr lang="en-US" sz="850" dirty="0"/>
          </a:p>
        </p:txBody>
      </p:sp>
      <p:sp>
        <p:nvSpPr>
          <p:cNvPr id="25" name="Text 23"/>
          <p:cNvSpPr/>
          <p:nvPr/>
        </p:nvSpPr>
        <p:spPr>
          <a:xfrm>
            <a:off x="3392424" y="3931920"/>
            <a:ext cx="2423160" cy="274320"/>
          </a:xfrm>
          <a:prstGeom prst="rect">
            <a:avLst/>
          </a:prstGeom>
          <a:noFill/>
          <a:ln/>
        </p:spPr>
        <p:txBody>
          <a:bodyPr wrap="square" lIns="0" tIns="0" rIns="0" bIns="0" rtlCol="0" anchor="ctr"/>
          <a:lstStyle/>
          <a:p>
            <a:pPr indent="0" marL="0">
              <a:buNone/>
            </a:pPr>
            <a:r>
              <a:rPr lang="en-US" sz="850" dirty="0">
                <a:solidFill>
                  <a:srgbClr val="D0EAD8"/>
                </a:solidFill>
              </a:rPr>
              <a:t>· Formation +4%</a:t>
            </a:r>
            <a:endParaRPr lang="en-US" sz="850" dirty="0"/>
          </a:p>
        </p:txBody>
      </p:sp>
      <p:sp>
        <p:nvSpPr>
          <p:cNvPr id="26" name="Text 24"/>
          <p:cNvSpPr/>
          <p:nvPr/>
        </p:nvSpPr>
        <p:spPr>
          <a:xfrm>
            <a:off x="3392424" y="4233672"/>
            <a:ext cx="2423160" cy="274320"/>
          </a:xfrm>
          <a:prstGeom prst="rect">
            <a:avLst/>
          </a:prstGeom>
          <a:noFill/>
          <a:ln/>
        </p:spPr>
        <p:txBody>
          <a:bodyPr wrap="square" lIns="0" tIns="0" rIns="0" bIns="0" rtlCol="0" anchor="ctr"/>
          <a:lstStyle/>
          <a:p>
            <a:pPr indent="0" marL="0">
              <a:buNone/>
            </a:pPr>
            <a:r>
              <a:rPr lang="en-US" sz="850" dirty="0">
                <a:solidFill>
                  <a:srgbClr val="D0EAD8"/>
                </a:solidFill>
              </a:rPr>
              <a:t>· Qualité de vie au travail</a:t>
            </a:r>
            <a:endParaRPr lang="en-US" sz="850" dirty="0"/>
          </a:p>
        </p:txBody>
      </p:sp>
      <p:sp>
        <p:nvSpPr>
          <p:cNvPr id="27" name="Text 25"/>
          <p:cNvSpPr/>
          <p:nvPr/>
        </p:nvSpPr>
        <p:spPr>
          <a:xfrm>
            <a:off x="3392424" y="4535424"/>
            <a:ext cx="2423160" cy="274320"/>
          </a:xfrm>
          <a:prstGeom prst="rect">
            <a:avLst/>
          </a:prstGeom>
          <a:noFill/>
          <a:ln/>
        </p:spPr>
        <p:txBody>
          <a:bodyPr wrap="square" lIns="0" tIns="0" rIns="0" bIns="0" rtlCol="0" anchor="ctr"/>
          <a:lstStyle/>
          <a:p>
            <a:pPr indent="0" marL="0">
              <a:buNone/>
            </a:pPr>
            <a:r>
              <a:rPr lang="en-US" sz="850" dirty="0">
                <a:solidFill>
                  <a:srgbClr val="D0EAD8"/>
                </a:solidFill>
              </a:rPr>
              <a:t>· Préservation des compétences</a:t>
            </a:r>
            <a:endParaRPr lang="en-US" sz="850" dirty="0"/>
          </a:p>
        </p:txBody>
      </p:sp>
      <p:sp>
        <p:nvSpPr>
          <p:cNvPr id="28" name="Shape 26"/>
          <p:cNvSpPr/>
          <p:nvPr/>
        </p:nvSpPr>
        <p:spPr>
          <a:xfrm>
            <a:off x="6135624" y="2240280"/>
            <a:ext cx="2697480" cy="2697480"/>
          </a:xfrm>
          <a:prstGeom prst="rect">
            <a:avLst/>
          </a:prstGeom>
          <a:solidFill>
            <a:srgbClr val="1A6E4A">
              <a:alpha val="15000"/>
            </a:srgbClr>
          </a:solidFill>
          <a:ln w="12700">
            <a:solidFill>
              <a:srgbClr val="7FD9A8"/>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6135624" y="2240280"/>
            <a:ext cx="2697480" cy="73152"/>
          </a:xfrm>
          <a:prstGeom prst="rect">
            <a:avLst/>
          </a:prstGeom>
          <a:solidFill>
            <a:srgbClr val="7FD9A8"/>
          </a:solidFill>
          <a:ln w="12700">
            <a:solidFill>
              <a:srgbClr val="7FD9A8"/>
            </a:solidFill>
            <a:prstDash val="solid"/>
          </a:ln>
        </p:spPr>
      </p:sp>
      <p:sp>
        <p:nvSpPr>
          <p:cNvPr id="30" name="Text 28"/>
          <p:cNvSpPr/>
          <p:nvPr/>
        </p:nvSpPr>
        <p:spPr>
          <a:xfrm>
            <a:off x="6135624" y="2404872"/>
            <a:ext cx="2697480" cy="502920"/>
          </a:xfrm>
          <a:prstGeom prst="rect">
            <a:avLst/>
          </a:prstGeom>
          <a:noFill/>
          <a:ln/>
        </p:spPr>
        <p:txBody>
          <a:bodyPr wrap="square" lIns="0" tIns="0" rIns="0" bIns="0" rtlCol="0" anchor="ctr"/>
          <a:lstStyle/>
          <a:p>
            <a:pPr algn="ctr" indent="0" marL="0">
              <a:buNone/>
            </a:pPr>
            <a:r>
              <a:rPr lang="en-US" sz="2800" b="1" dirty="0">
                <a:solidFill>
                  <a:srgbClr val="7FD9A8"/>
                </a:solidFill>
                <a:latin typeface="Georgia" pitchFamily="34" charset="0"/>
                <a:ea typeface="Georgia" pitchFamily="34" charset="-122"/>
                <a:cs typeface="Georgia" pitchFamily="34" charset="-120"/>
              </a:rPr>
              <a:t>03</a:t>
            </a:r>
            <a:endParaRPr lang="en-US" sz="2800" dirty="0"/>
          </a:p>
        </p:txBody>
      </p:sp>
      <p:sp>
        <p:nvSpPr>
          <p:cNvPr id="31" name="Text 29"/>
          <p:cNvSpPr/>
          <p:nvPr/>
        </p:nvSpPr>
        <p:spPr>
          <a:xfrm>
            <a:off x="6135624" y="2898648"/>
            <a:ext cx="2697480" cy="320040"/>
          </a:xfrm>
          <a:prstGeom prst="rect">
            <a:avLst/>
          </a:prstGeom>
          <a:noFill/>
          <a:ln/>
        </p:spPr>
        <p:txBody>
          <a:bodyPr wrap="square" lIns="0" tIns="0" rIns="0" bIns="0" rtlCol="0" anchor="ctr"/>
          <a:lstStyle/>
          <a:p>
            <a:pPr algn="ctr" indent="0" marL="0">
              <a:buNone/>
            </a:pPr>
            <a:r>
              <a:rPr lang="en-US" sz="1100" b="1" spc="200" kern="0" dirty="0">
                <a:solidFill>
                  <a:srgbClr val="7FD9A8"/>
                </a:solidFill>
              </a:rPr>
              <a:t>PRESERVED OCEANS</a:t>
            </a:r>
            <a:endParaRPr lang="en-US" sz="1100" dirty="0"/>
          </a:p>
        </p:txBody>
      </p:sp>
      <p:sp>
        <p:nvSpPr>
          <p:cNvPr id="32" name="Text 30"/>
          <p:cNvSpPr/>
          <p:nvPr/>
        </p:nvSpPr>
        <p:spPr>
          <a:xfrm>
            <a:off x="6135624" y="3200400"/>
            <a:ext cx="2697480" cy="274320"/>
          </a:xfrm>
          <a:prstGeom prst="rect">
            <a:avLst/>
          </a:prstGeom>
          <a:noFill/>
          <a:ln/>
        </p:spPr>
        <p:txBody>
          <a:bodyPr wrap="square" lIns="0" tIns="0" rIns="0" bIns="0" rtlCol="0" anchor="ctr"/>
          <a:lstStyle/>
          <a:p>
            <a:pPr algn="ctr" indent="0" marL="0">
              <a:buNone/>
            </a:pPr>
            <a:r>
              <a:rPr lang="en-US" sz="950" i="1" dirty="0">
                <a:solidFill>
                  <a:srgbClr val="C8E8D8"/>
                </a:solidFill>
              </a:rPr>
              <a:t>Préserver les océans</a:t>
            </a:r>
            <a:endParaRPr lang="en-US" sz="950" dirty="0"/>
          </a:p>
        </p:txBody>
      </p:sp>
      <p:sp>
        <p:nvSpPr>
          <p:cNvPr id="33" name="Shape 31"/>
          <p:cNvSpPr/>
          <p:nvPr/>
        </p:nvSpPr>
        <p:spPr>
          <a:xfrm>
            <a:off x="6684264" y="3520440"/>
            <a:ext cx="1600200" cy="27432"/>
          </a:xfrm>
          <a:prstGeom prst="rect">
            <a:avLst/>
          </a:prstGeom>
          <a:solidFill>
            <a:srgbClr val="7FD9A8">
              <a:alpha val="50000"/>
            </a:srgbClr>
          </a:solidFill>
          <a:ln w="12700">
            <a:solidFill>
              <a:srgbClr val="7FD9A8">
                <a:alpha val="50000"/>
              </a:srgbClr>
            </a:solidFill>
            <a:prstDash val="solid"/>
          </a:ln>
        </p:spPr>
      </p:sp>
      <p:sp>
        <p:nvSpPr>
          <p:cNvPr id="34" name="Text 32"/>
          <p:cNvSpPr/>
          <p:nvPr/>
        </p:nvSpPr>
        <p:spPr>
          <a:xfrm>
            <a:off x="6300216" y="3630168"/>
            <a:ext cx="2423160" cy="274320"/>
          </a:xfrm>
          <a:prstGeom prst="rect">
            <a:avLst/>
          </a:prstGeom>
          <a:noFill/>
          <a:ln/>
        </p:spPr>
        <p:txBody>
          <a:bodyPr wrap="square" lIns="0" tIns="0" rIns="0" bIns="0" rtlCol="0" anchor="ctr"/>
          <a:lstStyle/>
          <a:p>
            <a:pPr indent="0" marL="0">
              <a:buNone/>
            </a:pPr>
            <a:r>
              <a:rPr lang="en-US" sz="850" dirty="0">
                <a:solidFill>
                  <a:srgbClr val="D0EAD8"/>
                </a:solidFill>
              </a:rPr>
              <a:t>· CO₂ : -30% intensité /M€</a:t>
            </a:r>
            <a:endParaRPr lang="en-US" sz="850" dirty="0"/>
          </a:p>
        </p:txBody>
      </p:sp>
      <p:sp>
        <p:nvSpPr>
          <p:cNvPr id="35" name="Text 33"/>
          <p:cNvSpPr/>
          <p:nvPr/>
        </p:nvSpPr>
        <p:spPr>
          <a:xfrm>
            <a:off x="6300216" y="3931920"/>
            <a:ext cx="2423160" cy="274320"/>
          </a:xfrm>
          <a:prstGeom prst="rect">
            <a:avLst/>
          </a:prstGeom>
          <a:noFill/>
          <a:ln/>
        </p:spPr>
        <p:txBody>
          <a:bodyPr wrap="square" lIns="0" tIns="0" rIns="0" bIns="0" rtlCol="0" anchor="ctr"/>
          <a:lstStyle/>
          <a:p>
            <a:pPr indent="0" marL="0">
              <a:buNone/>
            </a:pPr>
            <a:r>
              <a:rPr lang="en-US" sz="850" dirty="0">
                <a:solidFill>
                  <a:srgbClr val="D0EAD8"/>
                </a:solidFill>
              </a:rPr>
              <a:t>· Résine recyclable Elium©</a:t>
            </a:r>
            <a:endParaRPr lang="en-US" sz="850" dirty="0"/>
          </a:p>
        </p:txBody>
      </p:sp>
      <p:sp>
        <p:nvSpPr>
          <p:cNvPr id="36" name="Text 34"/>
          <p:cNvSpPr/>
          <p:nvPr/>
        </p:nvSpPr>
        <p:spPr>
          <a:xfrm>
            <a:off x="6300216" y="4233672"/>
            <a:ext cx="2423160" cy="274320"/>
          </a:xfrm>
          <a:prstGeom prst="rect">
            <a:avLst/>
          </a:prstGeom>
          <a:noFill/>
          <a:ln/>
        </p:spPr>
        <p:txBody>
          <a:bodyPr wrap="square" lIns="0" tIns="0" rIns="0" bIns="0" rtlCol="0" anchor="ctr"/>
          <a:lstStyle/>
          <a:p>
            <a:pPr indent="0" marL="0">
              <a:buNone/>
            </a:pPr>
            <a:r>
              <a:rPr lang="en-US" sz="850" dirty="0">
                <a:solidFill>
                  <a:srgbClr val="D0EAD8"/>
                </a:solidFill>
              </a:rPr>
              <a:t>· Propulsion hybride électrique</a:t>
            </a:r>
            <a:endParaRPr lang="en-US" sz="850" dirty="0"/>
          </a:p>
        </p:txBody>
      </p:sp>
      <p:sp>
        <p:nvSpPr>
          <p:cNvPr id="37" name="Text 35"/>
          <p:cNvSpPr/>
          <p:nvPr/>
        </p:nvSpPr>
        <p:spPr>
          <a:xfrm>
            <a:off x="6300216" y="4535424"/>
            <a:ext cx="2423160" cy="274320"/>
          </a:xfrm>
          <a:prstGeom prst="rect">
            <a:avLst/>
          </a:prstGeom>
          <a:noFill/>
          <a:ln/>
        </p:spPr>
        <p:txBody>
          <a:bodyPr wrap="square" lIns="0" tIns="0" rIns="0" bIns="0" rtlCol="0" anchor="ctr"/>
          <a:lstStyle/>
          <a:p>
            <a:pPr indent="0" marL="0">
              <a:buNone/>
            </a:pPr>
            <a:r>
              <a:rPr lang="en-US" sz="850" dirty="0">
                <a:solidFill>
                  <a:srgbClr val="D0EAD8"/>
                </a:solidFill>
              </a:rPr>
              <a:t>· Refit &amp; économie circulaire</a:t>
            </a:r>
            <a:endParaRPr lang="en-US" sz="850" dirty="0"/>
          </a:p>
        </p:txBody>
      </p:sp>
      <p:sp>
        <p:nvSpPr>
          <p:cNvPr id="38" name="Shape 36"/>
          <p:cNvSpPr/>
          <p:nvPr/>
        </p:nvSpPr>
        <p:spPr>
          <a:xfrm>
            <a:off x="320040" y="5047488"/>
            <a:ext cx="8503920" cy="320040"/>
          </a:xfrm>
          <a:prstGeom prst="rect">
            <a:avLst/>
          </a:prstGeom>
          <a:solidFill>
            <a:srgbClr val="2DC87A">
              <a:alpha val="20000"/>
            </a:srgbClr>
          </a:solidFill>
          <a:ln w="12700">
            <a:solidFill>
              <a:srgbClr val="2DC87A"/>
            </a:solidFill>
            <a:prstDash val="solid"/>
          </a:ln>
        </p:spPr>
      </p:sp>
      <p:sp>
        <p:nvSpPr>
          <p:cNvPr id="39" name="Text 37"/>
          <p:cNvSpPr/>
          <p:nvPr/>
        </p:nvSpPr>
        <p:spPr>
          <a:xfrm>
            <a:off x="320040" y="5047488"/>
            <a:ext cx="8503920" cy="320040"/>
          </a:xfrm>
          <a:prstGeom prst="rect">
            <a:avLst/>
          </a:prstGeom>
          <a:noFill/>
          <a:ln/>
        </p:spPr>
        <p:txBody>
          <a:bodyPr wrap="square" lIns="0" tIns="0" rIns="0" bIns="0" rtlCol="0" anchor="ctr"/>
          <a:lstStyle/>
          <a:p>
            <a:pPr algn="ctr" indent="0" marL="0">
              <a:buNone/>
            </a:pPr>
            <a:r>
              <a:rPr lang="en-US" sz="900" b="1" dirty="0">
                <a:solidFill>
                  <a:srgbClr val="2DC87A"/>
                </a:solidFill>
              </a:rPr>
              <a:t>🎯  Objectif 2030 : -30% d'intensité CO₂ · 80% fournisseurs évalués EcoVadis · Parité renforcée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A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3D2C"/>
          </a:solidFill>
          <a:ln w="12700">
            <a:solidFill>
              <a:srgbClr val="0B3D2C"/>
            </a:solidFill>
            <a:prstDash val="solid"/>
          </a:ln>
        </p:spPr>
      </p:sp>
      <p:sp>
        <p:nvSpPr>
          <p:cNvPr id="3" name="Shape 1"/>
          <p:cNvSpPr/>
          <p:nvPr/>
        </p:nvSpPr>
        <p:spPr>
          <a:xfrm>
            <a:off x="0" y="960120"/>
            <a:ext cx="9144000" cy="54864"/>
          </a:xfrm>
          <a:prstGeom prst="rect">
            <a:avLst/>
          </a:prstGeom>
          <a:solidFill>
            <a:srgbClr val="2DC87A"/>
          </a:solidFill>
          <a:ln w="12700">
            <a:solidFill>
              <a:srgbClr val="2DC87A"/>
            </a:solidFill>
            <a:prstDash val="solid"/>
          </a:ln>
        </p:spPr>
      </p:sp>
      <p:sp>
        <p:nvSpPr>
          <p:cNvPr id="4" name="Text 2"/>
          <p:cNvSpPr/>
          <p:nvPr/>
        </p:nvSpPr>
        <p:spPr>
          <a:xfrm>
            <a:off x="457200" y="0"/>
            <a:ext cx="6400800" cy="9601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03 — Comparaison RSE</a:t>
            </a:r>
            <a:endParaRPr lang="en-US" sz="2600" dirty="0"/>
          </a:p>
        </p:txBody>
      </p:sp>
      <p:sp>
        <p:nvSpPr>
          <p:cNvPr id="5" name="Text 3"/>
          <p:cNvSpPr/>
          <p:nvPr/>
        </p:nvSpPr>
        <p:spPr>
          <a:xfrm>
            <a:off x="5943600" y="0"/>
            <a:ext cx="2743200" cy="960120"/>
          </a:xfrm>
          <a:prstGeom prst="rect">
            <a:avLst/>
          </a:prstGeom>
          <a:noFill/>
          <a:ln/>
        </p:spPr>
        <p:txBody>
          <a:bodyPr wrap="square" lIns="0" tIns="0" rIns="0" bIns="0" rtlCol="0" anchor="ctr"/>
          <a:lstStyle/>
          <a:p>
            <a:pPr algn="r" indent="0" marL="0">
              <a:buNone/>
            </a:pPr>
            <a:r>
              <a:rPr lang="en-US" sz="900" b="1" spc="300" kern="0" dirty="0">
                <a:solidFill>
                  <a:srgbClr val="B6F0D3"/>
                </a:solidFill>
              </a:rPr>
              <a:t>CÉRÉALOG VS GROUPE BÉNÉTEAU</a:t>
            </a:r>
            <a:endParaRPr lang="en-US" sz="900" dirty="0"/>
          </a:p>
        </p:txBody>
      </p:sp>
      <p:sp>
        <p:nvSpPr>
          <p:cNvPr id="6" name="Shape 4"/>
          <p:cNvSpPr/>
          <p:nvPr/>
        </p:nvSpPr>
        <p:spPr>
          <a:xfrm>
            <a:off x="3200400" y="1097280"/>
            <a:ext cx="2697480" cy="411480"/>
          </a:xfrm>
          <a:prstGeom prst="rect">
            <a:avLst/>
          </a:prstGeom>
          <a:solidFill>
            <a:srgbClr val="1E5FA8"/>
          </a:solidFill>
          <a:ln w="12700">
            <a:solidFill>
              <a:srgbClr val="1E5FA8"/>
            </a:solidFill>
            <a:prstDash val="solid"/>
          </a:ln>
        </p:spPr>
      </p:sp>
      <p:sp>
        <p:nvSpPr>
          <p:cNvPr id="7" name="Text 5"/>
          <p:cNvSpPr/>
          <p:nvPr/>
        </p:nvSpPr>
        <p:spPr>
          <a:xfrm>
            <a:off x="3200400" y="1097280"/>
            <a:ext cx="2697480" cy="411480"/>
          </a:xfrm>
          <a:prstGeom prst="rect">
            <a:avLst/>
          </a:prstGeom>
          <a:noFill/>
          <a:ln/>
        </p:spPr>
        <p:txBody>
          <a:bodyPr wrap="square" lIns="0" tIns="0" rIns="0" bIns="0" rtlCol="0" anchor="ctr"/>
          <a:lstStyle/>
          <a:p>
            <a:pPr algn="ctr" indent="0" marL="0">
              <a:buNone/>
            </a:pPr>
            <a:r>
              <a:rPr lang="en-US" sz="1100" b="1" dirty="0">
                <a:solidFill>
                  <a:srgbClr val="FFFFFF"/>
                </a:solidFill>
              </a:rPr>
              <a:t>CÉRÉALOG</a:t>
            </a:r>
            <a:endParaRPr lang="en-US" sz="1100" dirty="0"/>
          </a:p>
        </p:txBody>
      </p:sp>
      <p:sp>
        <p:nvSpPr>
          <p:cNvPr id="8" name="Shape 6"/>
          <p:cNvSpPr/>
          <p:nvPr/>
        </p:nvSpPr>
        <p:spPr>
          <a:xfrm>
            <a:off x="5989320" y="1097280"/>
            <a:ext cx="2834640" cy="411480"/>
          </a:xfrm>
          <a:prstGeom prst="rect">
            <a:avLst/>
          </a:prstGeom>
          <a:solidFill>
            <a:srgbClr val="0B4F8A"/>
          </a:solidFill>
          <a:ln w="12700">
            <a:solidFill>
              <a:srgbClr val="0B4F8A"/>
            </a:solidFill>
            <a:prstDash val="solid"/>
          </a:ln>
        </p:spPr>
      </p:sp>
      <p:sp>
        <p:nvSpPr>
          <p:cNvPr id="9" name="Text 7"/>
          <p:cNvSpPr/>
          <p:nvPr/>
        </p:nvSpPr>
        <p:spPr>
          <a:xfrm>
            <a:off x="5989320" y="1097280"/>
            <a:ext cx="2834640" cy="411480"/>
          </a:xfrm>
          <a:prstGeom prst="rect">
            <a:avLst/>
          </a:prstGeom>
          <a:noFill/>
          <a:ln/>
        </p:spPr>
        <p:txBody>
          <a:bodyPr wrap="square" lIns="0" tIns="0" rIns="0" bIns="0" rtlCol="0" anchor="ctr"/>
          <a:lstStyle/>
          <a:p>
            <a:pPr algn="ctr" indent="0" marL="0">
              <a:buNone/>
            </a:pPr>
            <a:r>
              <a:rPr lang="en-US" sz="1100" b="1" dirty="0">
                <a:solidFill>
                  <a:srgbClr val="FFFFFF"/>
                </a:solidFill>
              </a:rPr>
              <a:t>BÉNÉTEAU</a:t>
            </a:r>
            <a:endParaRPr lang="en-US" sz="1100" dirty="0"/>
          </a:p>
        </p:txBody>
      </p:sp>
      <p:sp>
        <p:nvSpPr>
          <p:cNvPr id="10" name="Shape 8"/>
          <p:cNvSpPr/>
          <p:nvPr/>
        </p:nvSpPr>
        <p:spPr>
          <a:xfrm>
            <a:off x="228600" y="1600200"/>
            <a:ext cx="2880360" cy="393192"/>
          </a:xfrm>
          <a:prstGeom prst="rect">
            <a:avLst/>
          </a:prstGeom>
          <a:solidFill>
            <a:srgbClr val="F8FBF9"/>
          </a:solidFill>
          <a:ln w="12700">
            <a:solidFill>
              <a:srgbClr val="D4EAE0"/>
            </a:solidFill>
            <a:prstDash val="solid"/>
          </a:ln>
        </p:spPr>
      </p:sp>
      <p:sp>
        <p:nvSpPr>
          <p:cNvPr id="11" name="Shape 9"/>
          <p:cNvSpPr/>
          <p:nvPr/>
        </p:nvSpPr>
        <p:spPr>
          <a:xfrm>
            <a:off x="3200400" y="1600200"/>
            <a:ext cx="2697480" cy="393192"/>
          </a:xfrm>
          <a:prstGeom prst="rect">
            <a:avLst/>
          </a:prstGeom>
          <a:solidFill>
            <a:srgbClr val="F8FBF9"/>
          </a:solidFill>
          <a:ln w="12700">
            <a:solidFill>
              <a:srgbClr val="D4EAE0"/>
            </a:solidFill>
            <a:prstDash val="solid"/>
          </a:ln>
        </p:spPr>
      </p:sp>
      <p:sp>
        <p:nvSpPr>
          <p:cNvPr id="12" name="Shape 10"/>
          <p:cNvSpPr/>
          <p:nvPr/>
        </p:nvSpPr>
        <p:spPr>
          <a:xfrm>
            <a:off x="5989320" y="1600200"/>
            <a:ext cx="2834640" cy="393192"/>
          </a:xfrm>
          <a:prstGeom prst="rect">
            <a:avLst/>
          </a:prstGeom>
          <a:solidFill>
            <a:srgbClr val="F8FBF9"/>
          </a:solidFill>
          <a:ln w="12700">
            <a:solidFill>
              <a:srgbClr val="D4EAE0"/>
            </a:solidFill>
            <a:prstDash val="solid"/>
          </a:ln>
        </p:spPr>
      </p:sp>
      <p:sp>
        <p:nvSpPr>
          <p:cNvPr id="13" name="Text 11"/>
          <p:cNvSpPr/>
          <p:nvPr/>
        </p:nvSpPr>
        <p:spPr>
          <a:xfrm>
            <a:off x="320040" y="1600200"/>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Taille</a:t>
            </a:r>
            <a:endParaRPr lang="en-US" sz="950" dirty="0"/>
          </a:p>
        </p:txBody>
      </p:sp>
      <p:sp>
        <p:nvSpPr>
          <p:cNvPr id="14" name="Text 12"/>
          <p:cNvSpPr/>
          <p:nvPr/>
        </p:nvSpPr>
        <p:spPr>
          <a:xfrm>
            <a:off x="3291840" y="1600200"/>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PME · ~50 pers.</a:t>
            </a:r>
            <a:endParaRPr lang="en-US" sz="850" dirty="0"/>
          </a:p>
        </p:txBody>
      </p:sp>
      <p:sp>
        <p:nvSpPr>
          <p:cNvPr id="15" name="Text 13"/>
          <p:cNvSpPr/>
          <p:nvPr/>
        </p:nvSpPr>
        <p:spPr>
          <a:xfrm>
            <a:off x="6080760" y="1600200"/>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Grand groupe · ~7 000 pers.</a:t>
            </a:r>
            <a:endParaRPr lang="en-US" sz="850" dirty="0"/>
          </a:p>
        </p:txBody>
      </p:sp>
      <p:sp>
        <p:nvSpPr>
          <p:cNvPr id="16" name="Shape 14"/>
          <p:cNvSpPr/>
          <p:nvPr/>
        </p:nvSpPr>
        <p:spPr>
          <a:xfrm>
            <a:off x="228600" y="2029968"/>
            <a:ext cx="2880360" cy="393192"/>
          </a:xfrm>
          <a:prstGeom prst="rect">
            <a:avLst/>
          </a:prstGeom>
          <a:solidFill>
            <a:srgbClr val="FFFFFF"/>
          </a:solidFill>
          <a:ln w="12700">
            <a:solidFill>
              <a:srgbClr val="D4EAE0"/>
            </a:solidFill>
            <a:prstDash val="solid"/>
          </a:ln>
        </p:spPr>
      </p:sp>
      <p:sp>
        <p:nvSpPr>
          <p:cNvPr id="17" name="Shape 15"/>
          <p:cNvSpPr/>
          <p:nvPr/>
        </p:nvSpPr>
        <p:spPr>
          <a:xfrm>
            <a:off x="3200400" y="2029968"/>
            <a:ext cx="2697480" cy="393192"/>
          </a:xfrm>
          <a:prstGeom prst="rect">
            <a:avLst/>
          </a:prstGeom>
          <a:solidFill>
            <a:srgbClr val="FFFFFF"/>
          </a:solidFill>
          <a:ln w="12700">
            <a:solidFill>
              <a:srgbClr val="D4EAE0"/>
            </a:solidFill>
            <a:prstDash val="solid"/>
          </a:ln>
        </p:spPr>
      </p:sp>
      <p:sp>
        <p:nvSpPr>
          <p:cNvPr id="18" name="Shape 16"/>
          <p:cNvSpPr/>
          <p:nvPr/>
        </p:nvSpPr>
        <p:spPr>
          <a:xfrm>
            <a:off x="5989320" y="2029968"/>
            <a:ext cx="2834640" cy="393192"/>
          </a:xfrm>
          <a:prstGeom prst="rect">
            <a:avLst/>
          </a:prstGeom>
          <a:solidFill>
            <a:srgbClr val="FFFFFF"/>
          </a:solidFill>
          <a:ln w="12700">
            <a:solidFill>
              <a:srgbClr val="D4EAE0"/>
            </a:solidFill>
            <a:prstDash val="solid"/>
          </a:ln>
        </p:spPr>
      </p:sp>
      <p:sp>
        <p:nvSpPr>
          <p:cNvPr id="19" name="Text 17"/>
          <p:cNvSpPr/>
          <p:nvPr/>
        </p:nvSpPr>
        <p:spPr>
          <a:xfrm>
            <a:off x="320040" y="2029968"/>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Stratégie RSE formalisée</a:t>
            </a:r>
            <a:endParaRPr lang="en-US" sz="950" dirty="0"/>
          </a:p>
        </p:txBody>
      </p:sp>
      <p:sp>
        <p:nvSpPr>
          <p:cNvPr id="20" name="Text 18"/>
          <p:cNvSpPr/>
          <p:nvPr/>
        </p:nvSpPr>
        <p:spPr>
          <a:xfrm>
            <a:off x="3291840" y="2029968"/>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En cours (15 engagements)</a:t>
            </a:r>
            <a:endParaRPr lang="en-US" sz="850" dirty="0"/>
          </a:p>
        </p:txBody>
      </p:sp>
      <p:sp>
        <p:nvSpPr>
          <p:cNvPr id="21" name="Text 19"/>
          <p:cNvSpPr/>
          <p:nvPr/>
        </p:nvSpPr>
        <p:spPr>
          <a:xfrm>
            <a:off x="6080760" y="2029968"/>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B-SUSTAINABLE 2030</a:t>
            </a:r>
            <a:endParaRPr lang="en-US" sz="850" dirty="0"/>
          </a:p>
        </p:txBody>
      </p:sp>
      <p:sp>
        <p:nvSpPr>
          <p:cNvPr id="22" name="Shape 20"/>
          <p:cNvSpPr/>
          <p:nvPr/>
        </p:nvSpPr>
        <p:spPr>
          <a:xfrm>
            <a:off x="228600" y="2459736"/>
            <a:ext cx="2880360" cy="393192"/>
          </a:xfrm>
          <a:prstGeom prst="rect">
            <a:avLst/>
          </a:prstGeom>
          <a:solidFill>
            <a:srgbClr val="F8FBF9"/>
          </a:solidFill>
          <a:ln w="12700">
            <a:solidFill>
              <a:srgbClr val="D4EAE0"/>
            </a:solidFill>
            <a:prstDash val="solid"/>
          </a:ln>
        </p:spPr>
      </p:sp>
      <p:sp>
        <p:nvSpPr>
          <p:cNvPr id="23" name="Shape 21"/>
          <p:cNvSpPr/>
          <p:nvPr/>
        </p:nvSpPr>
        <p:spPr>
          <a:xfrm>
            <a:off x="3200400" y="2459736"/>
            <a:ext cx="2697480" cy="393192"/>
          </a:xfrm>
          <a:prstGeom prst="rect">
            <a:avLst/>
          </a:prstGeom>
          <a:solidFill>
            <a:srgbClr val="F8FBF9"/>
          </a:solidFill>
          <a:ln w="12700">
            <a:solidFill>
              <a:srgbClr val="D4EAE0"/>
            </a:solidFill>
            <a:prstDash val="solid"/>
          </a:ln>
        </p:spPr>
      </p:sp>
      <p:sp>
        <p:nvSpPr>
          <p:cNvPr id="24" name="Shape 22"/>
          <p:cNvSpPr/>
          <p:nvPr/>
        </p:nvSpPr>
        <p:spPr>
          <a:xfrm>
            <a:off x="5989320" y="2459736"/>
            <a:ext cx="2834640" cy="393192"/>
          </a:xfrm>
          <a:prstGeom prst="rect">
            <a:avLst/>
          </a:prstGeom>
          <a:solidFill>
            <a:srgbClr val="F8FBF9"/>
          </a:solidFill>
          <a:ln w="12700">
            <a:solidFill>
              <a:srgbClr val="D4EAE0"/>
            </a:solidFill>
            <a:prstDash val="solid"/>
          </a:ln>
        </p:spPr>
      </p:sp>
      <p:sp>
        <p:nvSpPr>
          <p:cNvPr id="25" name="Text 23"/>
          <p:cNvSpPr/>
          <p:nvPr/>
        </p:nvSpPr>
        <p:spPr>
          <a:xfrm>
            <a:off x="320040" y="2459736"/>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Certification RSE</a:t>
            </a:r>
            <a:endParaRPr lang="en-US" sz="950" dirty="0"/>
          </a:p>
        </p:txBody>
      </p:sp>
      <p:sp>
        <p:nvSpPr>
          <p:cNvPr id="26" name="Text 24"/>
          <p:cNvSpPr/>
          <p:nvPr/>
        </p:nvSpPr>
        <p:spPr>
          <a:xfrm>
            <a:off x="3291840" y="2459736"/>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Label Numérique Responsable (mars 2026)</a:t>
            </a:r>
            <a:endParaRPr lang="en-US" sz="850" dirty="0"/>
          </a:p>
        </p:txBody>
      </p:sp>
      <p:sp>
        <p:nvSpPr>
          <p:cNvPr id="27" name="Text 25"/>
          <p:cNvSpPr/>
          <p:nvPr/>
        </p:nvSpPr>
        <p:spPr>
          <a:xfrm>
            <a:off x="6080760" y="2459736"/>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Médaille Argent EcoVadis (Top 15%)</a:t>
            </a:r>
            <a:endParaRPr lang="en-US" sz="850" dirty="0"/>
          </a:p>
        </p:txBody>
      </p:sp>
      <p:sp>
        <p:nvSpPr>
          <p:cNvPr id="28" name="Shape 26"/>
          <p:cNvSpPr/>
          <p:nvPr/>
        </p:nvSpPr>
        <p:spPr>
          <a:xfrm>
            <a:off x="228600" y="2889504"/>
            <a:ext cx="2880360" cy="393192"/>
          </a:xfrm>
          <a:prstGeom prst="rect">
            <a:avLst/>
          </a:prstGeom>
          <a:solidFill>
            <a:srgbClr val="FFFFFF"/>
          </a:solidFill>
          <a:ln w="12700">
            <a:solidFill>
              <a:srgbClr val="D4EAE0"/>
            </a:solidFill>
            <a:prstDash val="solid"/>
          </a:ln>
        </p:spPr>
      </p:sp>
      <p:sp>
        <p:nvSpPr>
          <p:cNvPr id="29" name="Shape 27"/>
          <p:cNvSpPr/>
          <p:nvPr/>
        </p:nvSpPr>
        <p:spPr>
          <a:xfrm>
            <a:off x="3200400" y="2889504"/>
            <a:ext cx="2697480" cy="393192"/>
          </a:xfrm>
          <a:prstGeom prst="rect">
            <a:avLst/>
          </a:prstGeom>
          <a:solidFill>
            <a:srgbClr val="FFFFFF"/>
          </a:solidFill>
          <a:ln w="12700">
            <a:solidFill>
              <a:srgbClr val="D4EAE0"/>
            </a:solidFill>
            <a:prstDash val="solid"/>
          </a:ln>
        </p:spPr>
      </p:sp>
      <p:sp>
        <p:nvSpPr>
          <p:cNvPr id="30" name="Shape 28"/>
          <p:cNvSpPr/>
          <p:nvPr/>
        </p:nvSpPr>
        <p:spPr>
          <a:xfrm>
            <a:off x="5989320" y="2889504"/>
            <a:ext cx="2834640" cy="393192"/>
          </a:xfrm>
          <a:prstGeom prst="rect">
            <a:avLst/>
          </a:prstGeom>
          <a:solidFill>
            <a:srgbClr val="FFFFFF"/>
          </a:solidFill>
          <a:ln w="12700">
            <a:solidFill>
              <a:srgbClr val="D4EAE0"/>
            </a:solidFill>
            <a:prstDash val="solid"/>
          </a:ln>
        </p:spPr>
      </p:sp>
      <p:sp>
        <p:nvSpPr>
          <p:cNvPr id="31" name="Text 29"/>
          <p:cNvSpPr/>
          <p:nvPr/>
        </p:nvSpPr>
        <p:spPr>
          <a:xfrm>
            <a:off x="320040" y="2889504"/>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Axe Environnement</a:t>
            </a:r>
            <a:endParaRPr lang="en-US" sz="950" dirty="0"/>
          </a:p>
        </p:txBody>
      </p:sp>
      <p:sp>
        <p:nvSpPr>
          <p:cNvPr id="32" name="Text 30"/>
          <p:cNvSpPr/>
          <p:nvPr/>
        </p:nvSpPr>
        <p:spPr>
          <a:xfrm>
            <a:off x="3291840" y="2889504"/>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En structuration</a:t>
            </a:r>
            <a:endParaRPr lang="en-US" sz="850" dirty="0"/>
          </a:p>
        </p:txBody>
      </p:sp>
      <p:sp>
        <p:nvSpPr>
          <p:cNvPr id="33" name="Text 31"/>
          <p:cNvSpPr/>
          <p:nvPr/>
        </p:nvSpPr>
        <p:spPr>
          <a:xfrm>
            <a:off x="6080760" y="2889504"/>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-30% intensité CO₂ · Elium©</a:t>
            </a:r>
            <a:endParaRPr lang="en-US" sz="850" dirty="0"/>
          </a:p>
        </p:txBody>
      </p:sp>
      <p:sp>
        <p:nvSpPr>
          <p:cNvPr id="34" name="Shape 32"/>
          <p:cNvSpPr/>
          <p:nvPr/>
        </p:nvSpPr>
        <p:spPr>
          <a:xfrm>
            <a:off x="228600" y="3319272"/>
            <a:ext cx="2880360" cy="393192"/>
          </a:xfrm>
          <a:prstGeom prst="rect">
            <a:avLst/>
          </a:prstGeom>
          <a:solidFill>
            <a:srgbClr val="F8FBF9"/>
          </a:solidFill>
          <a:ln w="12700">
            <a:solidFill>
              <a:srgbClr val="D4EAE0"/>
            </a:solidFill>
            <a:prstDash val="solid"/>
          </a:ln>
        </p:spPr>
      </p:sp>
      <p:sp>
        <p:nvSpPr>
          <p:cNvPr id="35" name="Shape 33"/>
          <p:cNvSpPr/>
          <p:nvPr/>
        </p:nvSpPr>
        <p:spPr>
          <a:xfrm>
            <a:off x="3200400" y="3319272"/>
            <a:ext cx="2697480" cy="393192"/>
          </a:xfrm>
          <a:prstGeom prst="rect">
            <a:avLst/>
          </a:prstGeom>
          <a:solidFill>
            <a:srgbClr val="F8FBF9"/>
          </a:solidFill>
          <a:ln w="12700">
            <a:solidFill>
              <a:srgbClr val="D4EAE0"/>
            </a:solidFill>
            <a:prstDash val="solid"/>
          </a:ln>
        </p:spPr>
      </p:sp>
      <p:sp>
        <p:nvSpPr>
          <p:cNvPr id="36" name="Shape 34"/>
          <p:cNvSpPr/>
          <p:nvPr/>
        </p:nvSpPr>
        <p:spPr>
          <a:xfrm>
            <a:off x="5989320" y="3319272"/>
            <a:ext cx="2834640" cy="393192"/>
          </a:xfrm>
          <a:prstGeom prst="rect">
            <a:avLst/>
          </a:prstGeom>
          <a:solidFill>
            <a:srgbClr val="F8FBF9"/>
          </a:solidFill>
          <a:ln w="12700">
            <a:solidFill>
              <a:srgbClr val="D4EAE0"/>
            </a:solidFill>
            <a:prstDash val="solid"/>
          </a:ln>
        </p:spPr>
      </p:sp>
      <p:sp>
        <p:nvSpPr>
          <p:cNvPr id="37" name="Text 35"/>
          <p:cNvSpPr/>
          <p:nvPr/>
        </p:nvSpPr>
        <p:spPr>
          <a:xfrm>
            <a:off x="320040" y="3319272"/>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Axe Social</a:t>
            </a:r>
            <a:endParaRPr lang="en-US" sz="950" dirty="0"/>
          </a:p>
        </p:txBody>
      </p:sp>
      <p:sp>
        <p:nvSpPr>
          <p:cNvPr id="38" name="Text 36"/>
          <p:cNvSpPr/>
          <p:nvPr/>
        </p:nvSpPr>
        <p:spPr>
          <a:xfrm>
            <a:off x="3291840" y="3319272"/>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QVT, non-discrim., formation</a:t>
            </a:r>
            <a:endParaRPr lang="en-US" sz="850" dirty="0"/>
          </a:p>
        </p:txBody>
      </p:sp>
      <p:sp>
        <p:nvSpPr>
          <p:cNvPr id="39" name="Text 37"/>
          <p:cNvSpPr/>
          <p:nvPr/>
        </p:nvSpPr>
        <p:spPr>
          <a:xfrm>
            <a:off x="6080760" y="3319272"/>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B-Equal, parité, formation +4%</a:t>
            </a:r>
            <a:endParaRPr lang="en-US" sz="850" dirty="0"/>
          </a:p>
        </p:txBody>
      </p:sp>
      <p:sp>
        <p:nvSpPr>
          <p:cNvPr id="40" name="Shape 38"/>
          <p:cNvSpPr/>
          <p:nvPr/>
        </p:nvSpPr>
        <p:spPr>
          <a:xfrm>
            <a:off x="228600" y="3749040"/>
            <a:ext cx="2880360" cy="393192"/>
          </a:xfrm>
          <a:prstGeom prst="rect">
            <a:avLst/>
          </a:prstGeom>
          <a:solidFill>
            <a:srgbClr val="FFFFFF"/>
          </a:solidFill>
          <a:ln w="12700">
            <a:solidFill>
              <a:srgbClr val="D4EAE0"/>
            </a:solidFill>
            <a:prstDash val="solid"/>
          </a:ln>
        </p:spPr>
      </p:sp>
      <p:sp>
        <p:nvSpPr>
          <p:cNvPr id="41" name="Shape 39"/>
          <p:cNvSpPr/>
          <p:nvPr/>
        </p:nvSpPr>
        <p:spPr>
          <a:xfrm>
            <a:off x="3200400" y="3749040"/>
            <a:ext cx="2697480" cy="393192"/>
          </a:xfrm>
          <a:prstGeom prst="rect">
            <a:avLst/>
          </a:prstGeom>
          <a:solidFill>
            <a:srgbClr val="FFFFFF"/>
          </a:solidFill>
          <a:ln w="12700">
            <a:solidFill>
              <a:srgbClr val="D4EAE0"/>
            </a:solidFill>
            <a:prstDash val="solid"/>
          </a:ln>
        </p:spPr>
      </p:sp>
      <p:sp>
        <p:nvSpPr>
          <p:cNvPr id="42" name="Shape 40"/>
          <p:cNvSpPr/>
          <p:nvPr/>
        </p:nvSpPr>
        <p:spPr>
          <a:xfrm>
            <a:off x="5989320" y="3749040"/>
            <a:ext cx="2834640" cy="393192"/>
          </a:xfrm>
          <a:prstGeom prst="rect">
            <a:avLst/>
          </a:prstGeom>
          <a:solidFill>
            <a:srgbClr val="FFFFFF"/>
          </a:solidFill>
          <a:ln w="12700">
            <a:solidFill>
              <a:srgbClr val="D4EAE0"/>
            </a:solidFill>
            <a:prstDash val="solid"/>
          </a:ln>
        </p:spPr>
      </p:sp>
      <p:sp>
        <p:nvSpPr>
          <p:cNvPr id="43" name="Text 41"/>
          <p:cNvSpPr/>
          <p:nvPr/>
        </p:nvSpPr>
        <p:spPr>
          <a:xfrm>
            <a:off x="320040" y="3749040"/>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Axe Fournisseurs</a:t>
            </a:r>
            <a:endParaRPr lang="en-US" sz="950" dirty="0"/>
          </a:p>
        </p:txBody>
      </p:sp>
      <p:sp>
        <p:nvSpPr>
          <p:cNvPr id="44" name="Text 42"/>
          <p:cNvSpPr/>
          <p:nvPr/>
        </p:nvSpPr>
        <p:spPr>
          <a:xfrm>
            <a:off x="3291840" y="3749040"/>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Non formalisé</a:t>
            </a:r>
            <a:endParaRPr lang="en-US" sz="850" dirty="0"/>
          </a:p>
        </p:txBody>
      </p:sp>
      <p:sp>
        <p:nvSpPr>
          <p:cNvPr id="45" name="Text 43"/>
          <p:cNvSpPr/>
          <p:nvPr/>
        </p:nvSpPr>
        <p:spPr>
          <a:xfrm>
            <a:off x="6080760" y="3749040"/>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56% achats évalués RSE</a:t>
            </a:r>
            <a:endParaRPr lang="en-US" sz="850" dirty="0"/>
          </a:p>
        </p:txBody>
      </p:sp>
      <p:sp>
        <p:nvSpPr>
          <p:cNvPr id="46" name="Shape 44"/>
          <p:cNvSpPr/>
          <p:nvPr/>
        </p:nvSpPr>
        <p:spPr>
          <a:xfrm>
            <a:off x="228600" y="4178808"/>
            <a:ext cx="2880360" cy="393192"/>
          </a:xfrm>
          <a:prstGeom prst="rect">
            <a:avLst/>
          </a:prstGeom>
          <a:solidFill>
            <a:srgbClr val="F8FBF9"/>
          </a:solidFill>
          <a:ln w="12700">
            <a:solidFill>
              <a:srgbClr val="D4EAE0"/>
            </a:solidFill>
            <a:prstDash val="solid"/>
          </a:ln>
        </p:spPr>
      </p:sp>
      <p:sp>
        <p:nvSpPr>
          <p:cNvPr id="47" name="Shape 45"/>
          <p:cNvSpPr/>
          <p:nvPr/>
        </p:nvSpPr>
        <p:spPr>
          <a:xfrm>
            <a:off x="3200400" y="4178808"/>
            <a:ext cx="2697480" cy="393192"/>
          </a:xfrm>
          <a:prstGeom prst="rect">
            <a:avLst/>
          </a:prstGeom>
          <a:solidFill>
            <a:srgbClr val="F8FBF9"/>
          </a:solidFill>
          <a:ln w="12700">
            <a:solidFill>
              <a:srgbClr val="D4EAE0"/>
            </a:solidFill>
            <a:prstDash val="solid"/>
          </a:ln>
        </p:spPr>
      </p:sp>
      <p:sp>
        <p:nvSpPr>
          <p:cNvPr id="48" name="Shape 46"/>
          <p:cNvSpPr/>
          <p:nvPr/>
        </p:nvSpPr>
        <p:spPr>
          <a:xfrm>
            <a:off x="5989320" y="4178808"/>
            <a:ext cx="2834640" cy="393192"/>
          </a:xfrm>
          <a:prstGeom prst="rect">
            <a:avLst/>
          </a:prstGeom>
          <a:solidFill>
            <a:srgbClr val="F8FBF9"/>
          </a:solidFill>
          <a:ln w="12700">
            <a:solidFill>
              <a:srgbClr val="D4EAE0"/>
            </a:solidFill>
            <a:prstDash val="solid"/>
          </a:ln>
        </p:spPr>
      </p:sp>
      <p:sp>
        <p:nvSpPr>
          <p:cNvPr id="49" name="Text 47"/>
          <p:cNvSpPr/>
          <p:nvPr/>
        </p:nvSpPr>
        <p:spPr>
          <a:xfrm>
            <a:off x="320040" y="4178808"/>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Rapport RSE publié</a:t>
            </a:r>
            <a:endParaRPr lang="en-US" sz="950" dirty="0"/>
          </a:p>
        </p:txBody>
      </p:sp>
      <p:sp>
        <p:nvSpPr>
          <p:cNvPr id="50" name="Text 48"/>
          <p:cNvSpPr/>
          <p:nvPr/>
        </p:nvSpPr>
        <p:spPr>
          <a:xfrm>
            <a:off x="3291840" y="4178808"/>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Non (PME)</a:t>
            </a:r>
            <a:endParaRPr lang="en-US" sz="850" dirty="0"/>
          </a:p>
        </p:txBody>
      </p:sp>
      <p:sp>
        <p:nvSpPr>
          <p:cNvPr id="51" name="Text 49"/>
          <p:cNvSpPr/>
          <p:nvPr/>
        </p:nvSpPr>
        <p:spPr>
          <a:xfrm>
            <a:off x="6080760" y="4178808"/>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Rapport durabilité annuel</a:t>
            </a:r>
            <a:endParaRPr lang="en-US" sz="850" dirty="0"/>
          </a:p>
        </p:txBody>
      </p:sp>
      <p:sp>
        <p:nvSpPr>
          <p:cNvPr id="52" name="Shape 50"/>
          <p:cNvSpPr/>
          <p:nvPr/>
        </p:nvSpPr>
        <p:spPr>
          <a:xfrm>
            <a:off x="228600" y="4608576"/>
            <a:ext cx="2880360" cy="393192"/>
          </a:xfrm>
          <a:prstGeom prst="rect">
            <a:avLst/>
          </a:prstGeom>
          <a:solidFill>
            <a:srgbClr val="FFFFFF"/>
          </a:solidFill>
          <a:ln w="12700">
            <a:solidFill>
              <a:srgbClr val="D4EAE0"/>
            </a:solidFill>
            <a:prstDash val="solid"/>
          </a:ln>
        </p:spPr>
      </p:sp>
      <p:sp>
        <p:nvSpPr>
          <p:cNvPr id="53" name="Shape 51"/>
          <p:cNvSpPr/>
          <p:nvPr/>
        </p:nvSpPr>
        <p:spPr>
          <a:xfrm>
            <a:off x="3200400" y="4608576"/>
            <a:ext cx="2697480" cy="393192"/>
          </a:xfrm>
          <a:prstGeom prst="rect">
            <a:avLst/>
          </a:prstGeom>
          <a:solidFill>
            <a:srgbClr val="FFFFFF"/>
          </a:solidFill>
          <a:ln w="12700">
            <a:solidFill>
              <a:srgbClr val="D4EAE0"/>
            </a:solidFill>
            <a:prstDash val="solid"/>
          </a:ln>
        </p:spPr>
      </p:sp>
      <p:sp>
        <p:nvSpPr>
          <p:cNvPr id="54" name="Shape 52"/>
          <p:cNvSpPr/>
          <p:nvPr/>
        </p:nvSpPr>
        <p:spPr>
          <a:xfrm>
            <a:off x="5989320" y="4608576"/>
            <a:ext cx="2834640" cy="393192"/>
          </a:xfrm>
          <a:prstGeom prst="rect">
            <a:avLst/>
          </a:prstGeom>
          <a:solidFill>
            <a:srgbClr val="FFFFFF"/>
          </a:solidFill>
          <a:ln w="12700">
            <a:solidFill>
              <a:srgbClr val="D4EAE0"/>
            </a:solidFill>
            <a:prstDash val="solid"/>
          </a:ln>
        </p:spPr>
      </p:sp>
      <p:sp>
        <p:nvSpPr>
          <p:cNvPr id="55" name="Text 53"/>
          <p:cNvSpPr/>
          <p:nvPr/>
        </p:nvSpPr>
        <p:spPr>
          <a:xfrm>
            <a:off x="320040" y="4608576"/>
            <a:ext cx="2651760" cy="393192"/>
          </a:xfrm>
          <a:prstGeom prst="rect">
            <a:avLst/>
          </a:prstGeom>
          <a:noFill/>
          <a:ln/>
        </p:spPr>
        <p:txBody>
          <a:bodyPr wrap="square" lIns="0" tIns="0" rIns="0" bIns="0" rtlCol="0" anchor="ctr"/>
          <a:lstStyle/>
          <a:p>
            <a:pPr indent="0" marL="0">
              <a:buNone/>
            </a:pPr>
            <a:r>
              <a:rPr lang="en-US" sz="950" b="1" dirty="0">
                <a:solidFill>
                  <a:srgbClr val="1C2B22"/>
                </a:solidFill>
              </a:rPr>
              <a:t>Engagement international</a:t>
            </a:r>
            <a:endParaRPr lang="en-US" sz="950" dirty="0"/>
          </a:p>
        </p:txBody>
      </p:sp>
      <p:sp>
        <p:nvSpPr>
          <p:cNvPr id="56" name="Text 54"/>
          <p:cNvSpPr/>
          <p:nvPr/>
        </p:nvSpPr>
        <p:spPr>
          <a:xfrm>
            <a:off x="3291840" y="4608576"/>
            <a:ext cx="2514600" cy="393192"/>
          </a:xfrm>
          <a:prstGeom prst="rect">
            <a:avLst/>
          </a:prstGeom>
          <a:noFill/>
          <a:ln/>
        </p:spPr>
        <p:txBody>
          <a:bodyPr wrap="square" lIns="0" tIns="0" rIns="0" bIns="0" rtlCol="0" anchor="ctr"/>
          <a:lstStyle/>
          <a:p>
            <a:pPr algn="ctr" indent="0" marL="0">
              <a:buNone/>
            </a:pPr>
            <a:r>
              <a:rPr lang="en-US" sz="850" dirty="0">
                <a:solidFill>
                  <a:srgbClr val="1C2B22"/>
                </a:solidFill>
              </a:rPr>
              <a:t>Local / national</a:t>
            </a:r>
            <a:endParaRPr lang="en-US" sz="850" dirty="0"/>
          </a:p>
        </p:txBody>
      </p:sp>
      <p:sp>
        <p:nvSpPr>
          <p:cNvPr id="57" name="Text 55"/>
          <p:cNvSpPr/>
          <p:nvPr/>
        </p:nvSpPr>
        <p:spPr>
          <a:xfrm>
            <a:off x="6080760" y="4608576"/>
            <a:ext cx="2651760" cy="393192"/>
          </a:xfrm>
          <a:prstGeom prst="rect">
            <a:avLst/>
          </a:prstGeom>
          <a:noFill/>
          <a:ln/>
        </p:spPr>
        <p:txBody>
          <a:bodyPr wrap="square" lIns="0" tIns="0" rIns="0" bIns="0" rtlCol="0" anchor="ctr"/>
          <a:lstStyle/>
          <a:p>
            <a:pPr algn="ctr" indent="0" marL="0">
              <a:buNone/>
            </a:pPr>
            <a:r>
              <a:rPr lang="en-US" sz="850" dirty="0">
                <a:solidFill>
                  <a:srgbClr val="1C2B22"/>
                </a:solidFill>
              </a:rPr>
              <a:t>Pacte Mondial ONU (2024)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2C"/>
        </a:solidFill>
      </p:bgPr>
    </p:bg>
    <p:spTree>
      <p:nvGrpSpPr>
        <p:cNvPr id="1" name=""/>
        <p:cNvGrpSpPr/>
        <p:nvPr/>
      </p:nvGrpSpPr>
      <p:grpSpPr>
        <a:xfrm>
          <a:off x="0" y="0"/>
          <a:ext cx="0" cy="0"/>
          <a:chOff x="0" y="0"/>
          <a:chExt cx="0" cy="0"/>
        </a:xfrm>
      </p:grpSpPr>
      <p:sp>
        <p:nvSpPr>
          <p:cNvPr id="2" name="Shape 0"/>
          <p:cNvSpPr/>
          <p:nvPr/>
        </p:nvSpPr>
        <p:spPr>
          <a:xfrm>
            <a:off x="-914400" y="-731520"/>
            <a:ext cx="3200400" cy="3200400"/>
          </a:xfrm>
          <a:prstGeom prst="ellipse">
            <a:avLst/>
          </a:prstGeom>
          <a:solidFill>
            <a:srgbClr val="1A6E4A">
              <a:alpha val="25000"/>
            </a:srgbClr>
          </a:solidFill>
          <a:ln w="12700">
            <a:solidFill>
              <a:srgbClr val="1A6E4A">
                <a:alpha val="25000"/>
              </a:srgbClr>
            </a:solidFill>
            <a:prstDash val="solid"/>
          </a:ln>
        </p:spPr>
      </p:sp>
      <p:sp>
        <p:nvSpPr>
          <p:cNvPr id="3" name="Shape 1"/>
          <p:cNvSpPr/>
          <p:nvPr/>
        </p:nvSpPr>
        <p:spPr>
          <a:xfrm>
            <a:off x="7132320" y="3200400"/>
            <a:ext cx="2743200" cy="2743200"/>
          </a:xfrm>
          <a:prstGeom prst="ellipse">
            <a:avLst/>
          </a:prstGeom>
          <a:solidFill>
            <a:srgbClr val="2DC87A">
              <a:alpha val="20000"/>
            </a:srgbClr>
          </a:solidFill>
          <a:ln w="12700">
            <a:solidFill>
              <a:srgbClr val="2DC87A">
                <a:alpha val="20000"/>
              </a:srgbClr>
            </a:solidFill>
            <a:prstDash val="solid"/>
          </a:ln>
        </p:spPr>
      </p:sp>
      <p:sp>
        <p:nvSpPr>
          <p:cNvPr id="4" name="Shape 2"/>
          <p:cNvSpPr/>
          <p:nvPr/>
        </p:nvSpPr>
        <p:spPr>
          <a:xfrm>
            <a:off x="0" y="0"/>
            <a:ext cx="164592" cy="5143500"/>
          </a:xfrm>
          <a:prstGeom prst="rect">
            <a:avLst/>
          </a:prstGeom>
          <a:solidFill>
            <a:srgbClr val="2DC87A"/>
          </a:solidFill>
          <a:ln w="12700">
            <a:solidFill>
              <a:srgbClr val="2DC87A"/>
            </a:solidFill>
            <a:prstDash val="solid"/>
          </a:ln>
        </p:spPr>
      </p:sp>
      <p:sp>
        <p:nvSpPr>
          <p:cNvPr id="5" name="Text 3"/>
          <p:cNvSpPr/>
          <p:nvPr/>
        </p:nvSpPr>
        <p:spPr>
          <a:xfrm>
            <a:off x="411480" y="320040"/>
            <a:ext cx="8229600" cy="320040"/>
          </a:xfrm>
          <a:prstGeom prst="rect">
            <a:avLst/>
          </a:prstGeom>
          <a:noFill/>
          <a:ln/>
        </p:spPr>
        <p:txBody>
          <a:bodyPr wrap="square" lIns="0" tIns="0" rIns="0" bIns="0" rtlCol="0" anchor="ctr"/>
          <a:lstStyle/>
          <a:p>
            <a:pPr indent="0" marL="0">
              <a:buNone/>
            </a:pPr>
            <a:r>
              <a:rPr lang="en-US" sz="1100" b="1" spc="300" kern="0" dirty="0">
                <a:solidFill>
                  <a:srgbClr val="B6F0D3"/>
                </a:solidFill>
              </a:rPr>
              <a:t>04 — Conclusion</a:t>
            </a:r>
            <a:endParaRPr lang="en-US" sz="1100" dirty="0"/>
          </a:p>
        </p:txBody>
      </p:sp>
      <p:sp>
        <p:nvSpPr>
          <p:cNvPr id="6" name="Text 4"/>
          <p:cNvSpPr/>
          <p:nvPr/>
        </p:nvSpPr>
        <p:spPr>
          <a:xfrm>
            <a:off x="411480" y="640080"/>
            <a:ext cx="7772400" cy="12801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Deux démarches RSE,</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une ambition commune</a:t>
            </a:r>
            <a:endParaRPr lang="en-US" sz="3000" dirty="0"/>
          </a:p>
        </p:txBody>
      </p:sp>
      <p:sp>
        <p:nvSpPr>
          <p:cNvPr id="7" name="Shape 5"/>
          <p:cNvSpPr/>
          <p:nvPr/>
        </p:nvSpPr>
        <p:spPr>
          <a:xfrm>
            <a:off x="411480" y="2029968"/>
            <a:ext cx="3931920" cy="2423160"/>
          </a:xfrm>
          <a:prstGeom prst="rect">
            <a:avLst/>
          </a:prstGeom>
          <a:solidFill>
            <a:srgbClr val="1A6E4A">
              <a:alpha val="18000"/>
            </a:srgbClr>
          </a:solidFill>
          <a:ln w="12700">
            <a:solidFill>
              <a:srgbClr val="1E5FA8"/>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411480" y="2029968"/>
            <a:ext cx="3931920" cy="438912"/>
          </a:xfrm>
          <a:prstGeom prst="rect">
            <a:avLst/>
          </a:prstGeom>
          <a:solidFill>
            <a:srgbClr val="1E5FA8"/>
          </a:solidFill>
          <a:ln w="12700">
            <a:solidFill>
              <a:srgbClr val="1E5FA8"/>
            </a:solidFill>
            <a:prstDash val="solid"/>
          </a:ln>
        </p:spPr>
      </p:sp>
      <p:sp>
        <p:nvSpPr>
          <p:cNvPr id="9" name="Text 7"/>
          <p:cNvSpPr/>
          <p:nvPr/>
        </p:nvSpPr>
        <p:spPr>
          <a:xfrm>
            <a:off x="548640" y="2029968"/>
            <a:ext cx="3657600" cy="43891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Céréalog</a:t>
            </a:r>
            <a:endParaRPr lang="en-US" sz="1400" dirty="0"/>
          </a:p>
        </p:txBody>
      </p:sp>
      <p:sp>
        <p:nvSpPr>
          <p:cNvPr id="10" name="Text 8"/>
          <p:cNvSpPr/>
          <p:nvPr/>
        </p:nvSpPr>
        <p:spPr>
          <a:xfrm>
            <a:off x="548640" y="2542032"/>
            <a:ext cx="3657600" cy="1828800"/>
          </a:xfrm>
          <a:prstGeom prst="rect">
            <a:avLst/>
          </a:prstGeom>
          <a:noFill/>
          <a:ln/>
        </p:spPr>
        <p:txBody>
          <a:bodyPr wrap="square" lIns="0" tIns="0" rIns="0" bIns="0" rtlCol="0" anchor="ctr"/>
          <a:lstStyle/>
          <a:p>
            <a:pPr indent="0" marL="0">
              <a:buNone/>
            </a:pPr>
            <a:r>
              <a:rPr lang="en-US" sz="950" dirty="0">
                <a:solidFill>
                  <a:srgbClr val="C8E8D8"/>
                </a:solidFill>
              </a:rPr>
              <a:t>PME en structuration active de sa RSE. L'obtention du Label Numérique Responsable (mars 2026) et la rédaction de 15 engagements formels marquent un vrai tournant. La politique déclarée (formation, QVT, non-discrimination) se traduit progressivement en actes concrets.</a:t>
            </a:r>
            <a:endParaRPr lang="en-US" sz="950" dirty="0"/>
          </a:p>
        </p:txBody>
      </p:sp>
      <p:sp>
        <p:nvSpPr>
          <p:cNvPr id="11" name="Shape 9"/>
          <p:cNvSpPr/>
          <p:nvPr/>
        </p:nvSpPr>
        <p:spPr>
          <a:xfrm>
            <a:off x="4709160" y="2029968"/>
            <a:ext cx="3931920" cy="2423160"/>
          </a:xfrm>
          <a:prstGeom prst="rect">
            <a:avLst/>
          </a:prstGeom>
          <a:solidFill>
            <a:srgbClr val="1A6E4A">
              <a:alpha val="18000"/>
            </a:srgbClr>
          </a:solidFill>
          <a:ln w="12700">
            <a:solidFill>
              <a:srgbClr val="2DC87A"/>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4709160" y="2029968"/>
            <a:ext cx="3931920" cy="438912"/>
          </a:xfrm>
          <a:prstGeom prst="rect">
            <a:avLst/>
          </a:prstGeom>
          <a:solidFill>
            <a:srgbClr val="2DC87A"/>
          </a:solidFill>
          <a:ln w="12700">
            <a:solidFill>
              <a:srgbClr val="2DC87A"/>
            </a:solidFill>
            <a:prstDash val="solid"/>
          </a:ln>
        </p:spPr>
      </p:sp>
      <p:sp>
        <p:nvSpPr>
          <p:cNvPr id="13" name="Text 11"/>
          <p:cNvSpPr/>
          <p:nvPr/>
        </p:nvSpPr>
        <p:spPr>
          <a:xfrm>
            <a:off x="4846320" y="2029968"/>
            <a:ext cx="3657600" cy="43891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Groupe Bénéteau</a:t>
            </a:r>
            <a:endParaRPr lang="en-US" sz="1400" dirty="0"/>
          </a:p>
        </p:txBody>
      </p:sp>
      <p:sp>
        <p:nvSpPr>
          <p:cNvPr id="14" name="Text 12"/>
          <p:cNvSpPr/>
          <p:nvPr/>
        </p:nvSpPr>
        <p:spPr>
          <a:xfrm>
            <a:off x="4846320" y="2542032"/>
            <a:ext cx="3657600" cy="1828800"/>
          </a:xfrm>
          <a:prstGeom prst="rect">
            <a:avLst/>
          </a:prstGeom>
          <a:noFill/>
          <a:ln/>
        </p:spPr>
        <p:txBody>
          <a:bodyPr wrap="square" lIns="0" tIns="0" rIns="0" bIns="0" rtlCol="0" anchor="ctr"/>
          <a:lstStyle/>
          <a:p>
            <a:pPr indent="0" marL="0">
              <a:buNone/>
            </a:pPr>
            <a:r>
              <a:rPr lang="en-US" sz="950" dirty="0">
                <a:solidFill>
                  <a:srgbClr val="C8E8D8"/>
                </a:solidFill>
              </a:rPr>
              <a:t>Grand groupe avec une stratégie RSE mature et chiffrée (B-SUSTAINABLE 2030). Des résultats mesurables : -30% CO₂, médaille Argent EcoVadis, 56% achats RSE. La politique est pleinement alignée avec les réalisations et régulièrement auditée.</a:t>
            </a:r>
            <a:endParaRPr lang="en-US" sz="950" dirty="0"/>
          </a:p>
        </p:txBody>
      </p:sp>
      <p:sp>
        <p:nvSpPr>
          <p:cNvPr id="15" name="Shape 13"/>
          <p:cNvSpPr/>
          <p:nvPr/>
        </p:nvSpPr>
        <p:spPr>
          <a:xfrm>
            <a:off x="411480" y="4617720"/>
            <a:ext cx="8321040" cy="384048"/>
          </a:xfrm>
          <a:prstGeom prst="rect">
            <a:avLst/>
          </a:prstGeom>
          <a:solidFill>
            <a:srgbClr val="2DC87A">
              <a:alpha val="15000"/>
            </a:srgbClr>
          </a:solidFill>
          <a:ln w="12700">
            <a:solidFill>
              <a:srgbClr val="2DC87A"/>
            </a:solidFill>
            <a:prstDash val="solid"/>
          </a:ln>
        </p:spPr>
      </p:sp>
      <p:sp>
        <p:nvSpPr>
          <p:cNvPr id="16" name="Text 14"/>
          <p:cNvSpPr/>
          <p:nvPr/>
        </p:nvSpPr>
        <p:spPr>
          <a:xfrm>
            <a:off x="411480" y="4617720"/>
            <a:ext cx="8321040" cy="384048"/>
          </a:xfrm>
          <a:prstGeom prst="rect">
            <a:avLst/>
          </a:prstGeom>
          <a:noFill/>
          <a:ln/>
        </p:spPr>
        <p:txBody>
          <a:bodyPr wrap="square" lIns="0" tIns="0" rIns="0" bIns="0" rtlCol="0" anchor="ctr"/>
          <a:lstStyle/>
          <a:p>
            <a:pPr algn="ctr" indent="0" marL="0">
              <a:buNone/>
            </a:pPr>
            <a:r>
              <a:rPr lang="en-US" sz="950" i="1" dirty="0">
                <a:solidFill>
                  <a:srgbClr val="B6F0D3"/>
                </a:solidFill>
              </a:rPr>
              <a:t>🌱  Quelle que soit leur taille, les deux entreprises intègrent la RSE comme levier de performance et de sens.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Actions RSE 2024-2026 - Céréalog &amp; Bénéteau</dc:title>
  <dc:subject>PptxGenJS Presentation</dc:subject>
  <dc:creator>PptxGenJS</dc:creator>
  <cp:lastModifiedBy>PptxGenJS</cp:lastModifiedBy>
  <cp:revision>1</cp:revision>
  <dcterms:created xsi:type="dcterms:W3CDTF">2026-04-15T09:35:21Z</dcterms:created>
  <dcterms:modified xsi:type="dcterms:W3CDTF">2026-04-15T09:35:21Z</dcterms:modified>
</cp:coreProperties>
</file>